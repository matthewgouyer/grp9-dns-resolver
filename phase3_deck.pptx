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MATTHEW opens. One line: our baseline resolved A records and cached them, but there were three places it still did not match what the RFCs describe. Hand to 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MATTHEW. Walk the three cards quickly, about 15 seconds each. Do not explain how they work yet, that is the next three slides. Hand to Lu after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 Key line: it is recursion, and the base case is hitting an actual A record. If asked about the loop guard: a zone can have A point to B and B point back to A, so _depth increments on every recursive call and we bail at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 The interesting question is the TTL, not the caching. Lead with that. If asked why min and not just MINIMUM, use the week vs right-now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 This is the strongest technical detail in the deck. Slow down here. The point: decode_name returns an updated offset, and that is what makes the chain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 Tell this as a story, not a feature. We found it because a test failed. This is the slide that shows real debugging. If he asks anything, this is where the good follow-ups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 Short slide. Point at the two rcode 2 lines, then the answer. Hand back to Matthew for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 runs the demo. Run them in this order. If the network is blocked, say so and point at the captured output on the earlier slides. Do not troubleshoot live, just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MATTHEW. The one idea worth landing: returning the correct answer does not prove the cache worked. Counting packets does. Every extension also has a real-network test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MATTHEW closes, then open for questions. Likely ones: why min and not MINIMUM, why the negative check runs before the cache check, what happens if a CNAME points into a different TLD.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92B"/>
        </a:solidFill>
      </p:bgPr>
    </p:bg>
    <p:spTree>
      <p:nvGrpSpPr>
        <p:cNvPr id="1" name=""/>
        <p:cNvGrpSpPr/>
        <p:nvPr/>
      </p:nvGrpSpPr>
      <p:grpSpPr>
        <a:xfrm>
          <a:off x="0" y="0"/>
          <a:ext cx="0" cy="0"/>
          <a:chOff x="0" y="0"/>
          <a:chExt cx="0" cy="0"/>
        </a:xfrm>
      </p:grpSpPr>
      <p:sp>
        <p:nvSpPr>
          <p:cNvPr id="2" name="Text 0"/>
          <p:cNvSpPr/>
          <p:nvPr/>
        </p:nvSpPr>
        <p:spPr>
          <a:xfrm>
            <a:off x="822960" y="1965960"/>
            <a:ext cx="5486400" cy="365760"/>
          </a:xfrm>
          <a:prstGeom prst="rect">
            <a:avLst/>
          </a:prstGeom>
          <a:noFill/>
          <a:ln/>
        </p:spPr>
        <p:txBody>
          <a:bodyPr wrap="square" lIns="0" tIns="0" rIns="0" bIns="0" rtlCol="0" anchor="ctr"/>
          <a:lstStyle/>
          <a:p>
            <a:pPr indent="0" marL="0">
              <a:buNone/>
            </a:pPr>
            <a:r>
              <a:rPr lang="en-US" sz="1400" b="1" spc="400" kern="0" dirty="0">
                <a:solidFill>
                  <a:srgbClr val="17827A"/>
                </a:solidFill>
                <a:latin typeface="Calibri" pitchFamily="34" charset="0"/>
                <a:ea typeface="Calibri" pitchFamily="34" charset="-122"/>
                <a:cs typeface="Calibri" pitchFamily="34" charset="-120"/>
              </a:rPr>
              <a:t>CS 158A DNS PROJECT</a:t>
            </a:r>
            <a:endParaRPr lang="en-US" sz="1400" dirty="0"/>
          </a:p>
        </p:txBody>
      </p:sp>
      <p:sp>
        <p:nvSpPr>
          <p:cNvPr id="3" name="Text 1"/>
          <p:cNvSpPr/>
          <p:nvPr/>
        </p:nvSpPr>
        <p:spPr>
          <a:xfrm>
            <a:off x="822960" y="2377440"/>
            <a:ext cx="6949440" cy="18288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Phase 3:</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our three extensions</a:t>
            </a:r>
            <a:endParaRPr lang="en-US" sz="4000" dirty="0"/>
          </a:p>
        </p:txBody>
      </p:sp>
      <p:sp>
        <p:nvSpPr>
          <p:cNvPr id="4" name="Text 2"/>
          <p:cNvSpPr/>
          <p:nvPr/>
        </p:nvSpPr>
        <p:spPr>
          <a:xfrm>
            <a:off x="822960" y="4572000"/>
            <a:ext cx="7315200" cy="320040"/>
          </a:xfrm>
          <a:prstGeom prst="rect">
            <a:avLst/>
          </a:prstGeom>
          <a:noFill/>
          <a:ln/>
        </p:spPr>
        <p:txBody>
          <a:bodyPr wrap="square" lIns="0" tIns="0" rIns="0" bIns="0" rtlCol="0" anchor="ctr"/>
          <a:lstStyle/>
          <a:p>
            <a:pPr indent="0" marL="0">
              <a:buNone/>
            </a:pPr>
            <a:r>
              <a:rPr lang="en-US" sz="1400" dirty="0">
                <a:solidFill>
                  <a:srgbClr val="93A6BB"/>
                </a:solidFill>
                <a:latin typeface="Calibri" pitchFamily="34" charset="0"/>
                <a:ea typeface="Calibri" pitchFamily="34" charset="-122"/>
                <a:cs typeface="Calibri" pitchFamily="34" charset="-120"/>
              </a:rPr>
              <a:t>Group 9  ·  Lu Tun &amp; Matthew Gouyer</a:t>
            </a:r>
            <a:endParaRPr lang="en-US" sz="1400" dirty="0"/>
          </a:p>
        </p:txBody>
      </p:sp>
      <p:sp>
        <p:nvSpPr>
          <p:cNvPr id="5" name="Shape 3"/>
          <p:cNvSpPr/>
          <p:nvPr/>
        </p:nvSpPr>
        <p:spPr>
          <a:xfrm>
            <a:off x="9692640" y="2331720"/>
            <a:ext cx="1645920" cy="146304"/>
          </a:xfrm>
          <a:prstGeom prst="rect">
            <a:avLst/>
          </a:prstGeom>
          <a:solidFill>
            <a:srgbClr val="2C3E54"/>
          </a:solidFill>
          <a:ln w="12700">
            <a:solidFill>
              <a:srgbClr val="333333"/>
            </a:solidFill>
            <a:prstDash val="solid"/>
          </a:ln>
        </p:spPr>
      </p:sp>
      <p:sp>
        <p:nvSpPr>
          <p:cNvPr id="6" name="Shape 4"/>
          <p:cNvSpPr/>
          <p:nvPr/>
        </p:nvSpPr>
        <p:spPr>
          <a:xfrm>
            <a:off x="9692640" y="3044952"/>
            <a:ext cx="1645920" cy="146304"/>
          </a:xfrm>
          <a:prstGeom prst="rect">
            <a:avLst/>
          </a:prstGeom>
          <a:solidFill>
            <a:srgbClr val="2C3E54"/>
          </a:solidFill>
          <a:ln w="12700">
            <a:solidFill>
              <a:srgbClr val="333333"/>
            </a:solidFill>
            <a:prstDash val="solid"/>
          </a:ln>
        </p:spPr>
      </p:sp>
      <p:sp>
        <p:nvSpPr>
          <p:cNvPr id="7" name="Shape 5"/>
          <p:cNvSpPr/>
          <p:nvPr/>
        </p:nvSpPr>
        <p:spPr>
          <a:xfrm>
            <a:off x="9692640" y="3758184"/>
            <a:ext cx="1645920" cy="146304"/>
          </a:xfrm>
          <a:prstGeom prst="rect">
            <a:avLst/>
          </a:prstGeom>
          <a:solidFill>
            <a:srgbClr val="17827A"/>
          </a:solidFill>
          <a:ln w="12700">
            <a:solidFill>
              <a:srgbClr val="33333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17827A"/>
                </a:solidFill>
                <a:latin typeface="Calibri" pitchFamily="34" charset="0"/>
                <a:ea typeface="Calibri" pitchFamily="34" charset="-122"/>
                <a:cs typeface="Calibri" pitchFamily="34" charset="-120"/>
              </a:rPr>
              <a:t>STARTING POINT</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3400" b="1" dirty="0">
                <a:solidFill>
                  <a:srgbClr val="10192B"/>
                </a:solidFill>
                <a:latin typeface="Cambria" pitchFamily="34" charset="0"/>
                <a:ea typeface="Cambria" pitchFamily="34" charset="-122"/>
                <a:cs typeface="Cambria" pitchFamily="34" charset="-120"/>
              </a:rPr>
              <a:t>What our resolver still could not do</a:t>
            </a:r>
            <a:endParaRPr lang="en-US" sz="3400" dirty="0"/>
          </a:p>
        </p:txBody>
      </p:sp>
      <p:sp>
        <p:nvSpPr>
          <p:cNvPr id="4" name="Shape 2"/>
          <p:cNvSpPr/>
          <p:nvPr/>
        </p:nvSpPr>
        <p:spPr>
          <a:xfrm>
            <a:off x="640080" y="1783080"/>
            <a:ext cx="3429000" cy="3200400"/>
          </a:xfrm>
          <a:prstGeom prst="roundRect">
            <a:avLst>
              <a:gd name="adj" fmla="val 1429"/>
            </a:avLst>
          </a:prstGeom>
          <a:solidFill>
            <a:srgbClr val="EEF2F6"/>
          </a:solidFill>
          <a:ln w="12700">
            <a:solidFill>
              <a:srgbClr val="333333"/>
            </a:solidFill>
            <a:prstDash val="solid"/>
          </a:ln>
        </p:spPr>
      </p:sp>
      <p:sp>
        <p:nvSpPr>
          <p:cNvPr id="5" name="Text 3"/>
          <p:cNvSpPr/>
          <p:nvPr/>
        </p:nvSpPr>
        <p:spPr>
          <a:xfrm>
            <a:off x="914400" y="2011680"/>
            <a:ext cx="914400" cy="548640"/>
          </a:xfrm>
          <a:prstGeom prst="rect">
            <a:avLst/>
          </a:prstGeom>
          <a:noFill/>
          <a:ln/>
        </p:spPr>
        <p:txBody>
          <a:bodyPr wrap="square" lIns="0" tIns="0" rIns="0" bIns="0" rtlCol="0" anchor="ctr"/>
          <a:lstStyle/>
          <a:p>
            <a:pPr indent="0" marL="0">
              <a:buNone/>
            </a:pPr>
            <a:r>
              <a:rPr lang="en-US" sz="3000" b="1" dirty="0">
                <a:solidFill>
                  <a:srgbClr val="C1462E"/>
                </a:solidFill>
                <a:latin typeface="Cambria" pitchFamily="34" charset="0"/>
                <a:ea typeface="Cambria" pitchFamily="34" charset="-122"/>
                <a:cs typeface="Cambria" pitchFamily="34" charset="-120"/>
              </a:rPr>
              <a:t>01</a:t>
            </a:r>
            <a:endParaRPr lang="en-US" sz="3000" dirty="0"/>
          </a:p>
        </p:txBody>
      </p:sp>
      <p:sp>
        <p:nvSpPr>
          <p:cNvPr id="6" name="Text 4"/>
          <p:cNvSpPr/>
          <p:nvPr/>
        </p:nvSpPr>
        <p:spPr>
          <a:xfrm>
            <a:off x="914400" y="2670048"/>
            <a:ext cx="2880360" cy="685800"/>
          </a:xfrm>
          <a:prstGeom prst="rect">
            <a:avLst/>
          </a:prstGeom>
          <a:noFill/>
          <a:ln/>
        </p:spPr>
        <p:txBody>
          <a:bodyPr wrap="square" lIns="0" tIns="0" rIns="0" bIns="0" rtlCol="0" anchor="t"/>
          <a:lstStyle/>
          <a:p>
            <a:pPr indent="0" marL="0">
              <a:buNone/>
            </a:pPr>
            <a:r>
              <a:rPr lang="en-US" sz="1700" b="1" dirty="0">
                <a:solidFill>
                  <a:srgbClr val="10192B"/>
                </a:solidFill>
                <a:latin typeface="Calibri" pitchFamily="34" charset="0"/>
                <a:ea typeface="Calibri" pitchFamily="34" charset="-122"/>
                <a:cs typeface="Calibri" pitchFamily="34" charset="-120"/>
              </a:rPr>
              <a:t>Aliases did not work</a:t>
            </a:r>
            <a:endParaRPr lang="en-US" sz="1700" dirty="0"/>
          </a:p>
        </p:txBody>
      </p:sp>
      <p:sp>
        <p:nvSpPr>
          <p:cNvPr id="7" name="Text 5"/>
          <p:cNvSpPr/>
          <p:nvPr/>
        </p:nvSpPr>
        <p:spPr>
          <a:xfrm>
            <a:off x="914400" y="3401568"/>
            <a:ext cx="2880360" cy="1005840"/>
          </a:xfrm>
          <a:prstGeom prst="rect">
            <a:avLst/>
          </a:prstGeom>
          <a:noFill/>
          <a:ln/>
        </p:spPr>
        <p:txBody>
          <a:bodyPr wrap="square" lIns="0" tIns="0" rIns="0" bIns="0" rtlCol="0" anchor="t"/>
          <a:lstStyle/>
          <a:p>
            <a:pPr indent="0" marL="0">
              <a:buNone/>
            </a:pPr>
            <a:r>
              <a:rPr lang="en-US" sz="1300" dirty="0">
                <a:solidFill>
                  <a:srgbClr val="2C3E54"/>
                </a:solidFill>
                <a:latin typeface="Calibri" pitchFamily="34" charset="0"/>
                <a:ea typeface="Calibri" pitchFamily="34" charset="-122"/>
                <a:cs typeface="Calibri" pitchFamily="34" charset="-120"/>
              </a:rPr>
              <a:t>We only looked for A records, so a CNAME response gave us nothing back.</a:t>
            </a:r>
            <a:endParaRPr lang="en-US" sz="1300" dirty="0"/>
          </a:p>
        </p:txBody>
      </p:sp>
      <p:sp>
        <p:nvSpPr>
          <p:cNvPr id="8" name="Text 6"/>
          <p:cNvSpPr/>
          <p:nvPr/>
        </p:nvSpPr>
        <p:spPr>
          <a:xfrm>
            <a:off x="914400" y="4462272"/>
            <a:ext cx="2880360" cy="274320"/>
          </a:xfrm>
          <a:prstGeom prst="rect">
            <a:avLst/>
          </a:prstGeom>
          <a:noFill/>
          <a:ln/>
        </p:spPr>
        <p:txBody>
          <a:bodyPr wrap="square" lIns="0" tIns="0" rIns="0" bIns="0" rtlCol="0" anchor="ctr"/>
          <a:lstStyle/>
          <a:p>
            <a:pPr indent="0" marL="0">
              <a:buNone/>
            </a:pPr>
            <a:r>
              <a:rPr lang="en-US" sz="1100" b="1" dirty="0">
                <a:solidFill>
                  <a:srgbClr val="17827A"/>
                </a:solidFill>
                <a:latin typeface="Courier New" pitchFamily="34" charset="0"/>
                <a:ea typeface="Courier New" pitchFamily="34" charset="-122"/>
                <a:cs typeface="Courier New" pitchFamily="34" charset="-120"/>
              </a:rPr>
              <a:t>RFC 1034 §3.6.2</a:t>
            </a:r>
            <a:endParaRPr lang="en-US" sz="1100" dirty="0"/>
          </a:p>
        </p:txBody>
      </p:sp>
      <p:sp>
        <p:nvSpPr>
          <p:cNvPr id="9" name="Shape 7"/>
          <p:cNvSpPr/>
          <p:nvPr/>
        </p:nvSpPr>
        <p:spPr>
          <a:xfrm>
            <a:off x="4361688" y="1783080"/>
            <a:ext cx="3429000" cy="3200400"/>
          </a:xfrm>
          <a:prstGeom prst="roundRect">
            <a:avLst>
              <a:gd name="adj" fmla="val 1429"/>
            </a:avLst>
          </a:prstGeom>
          <a:solidFill>
            <a:srgbClr val="EEF2F6"/>
          </a:solidFill>
          <a:ln w="12700">
            <a:solidFill>
              <a:srgbClr val="333333"/>
            </a:solidFill>
            <a:prstDash val="solid"/>
          </a:ln>
        </p:spPr>
      </p:sp>
      <p:sp>
        <p:nvSpPr>
          <p:cNvPr id="10" name="Text 8"/>
          <p:cNvSpPr/>
          <p:nvPr/>
        </p:nvSpPr>
        <p:spPr>
          <a:xfrm>
            <a:off x="4636008" y="2011680"/>
            <a:ext cx="914400" cy="548640"/>
          </a:xfrm>
          <a:prstGeom prst="rect">
            <a:avLst/>
          </a:prstGeom>
          <a:noFill/>
          <a:ln/>
        </p:spPr>
        <p:txBody>
          <a:bodyPr wrap="square" lIns="0" tIns="0" rIns="0" bIns="0" rtlCol="0" anchor="ctr"/>
          <a:lstStyle/>
          <a:p>
            <a:pPr indent="0" marL="0">
              <a:buNone/>
            </a:pPr>
            <a:r>
              <a:rPr lang="en-US" sz="3000" b="1" dirty="0">
                <a:solidFill>
                  <a:srgbClr val="C1462E"/>
                </a:solidFill>
                <a:latin typeface="Cambria" pitchFamily="34" charset="0"/>
                <a:ea typeface="Cambria" pitchFamily="34" charset="-122"/>
                <a:cs typeface="Cambria" pitchFamily="34" charset="-120"/>
              </a:rPr>
              <a:t>02</a:t>
            </a:r>
            <a:endParaRPr lang="en-US" sz="3000" dirty="0"/>
          </a:p>
        </p:txBody>
      </p:sp>
      <p:sp>
        <p:nvSpPr>
          <p:cNvPr id="11" name="Text 9"/>
          <p:cNvSpPr/>
          <p:nvPr/>
        </p:nvSpPr>
        <p:spPr>
          <a:xfrm>
            <a:off x="4636008" y="2670048"/>
            <a:ext cx="2880360" cy="685800"/>
          </a:xfrm>
          <a:prstGeom prst="rect">
            <a:avLst/>
          </a:prstGeom>
          <a:noFill/>
          <a:ln/>
        </p:spPr>
        <p:txBody>
          <a:bodyPr wrap="square" lIns="0" tIns="0" rIns="0" bIns="0" rtlCol="0" anchor="t"/>
          <a:lstStyle/>
          <a:p>
            <a:pPr indent="0" marL="0">
              <a:buNone/>
            </a:pPr>
            <a:r>
              <a:rPr lang="en-US" sz="1700" b="1" dirty="0">
                <a:solidFill>
                  <a:srgbClr val="10192B"/>
                </a:solidFill>
                <a:latin typeface="Calibri" pitchFamily="34" charset="0"/>
                <a:ea typeface="Calibri" pitchFamily="34" charset="-122"/>
                <a:cs typeface="Calibri" pitchFamily="34" charset="-120"/>
              </a:rPr>
              <a:t>We never cached failures</a:t>
            </a:r>
            <a:endParaRPr lang="en-US" sz="1700" dirty="0"/>
          </a:p>
        </p:txBody>
      </p:sp>
      <p:sp>
        <p:nvSpPr>
          <p:cNvPr id="12" name="Text 10"/>
          <p:cNvSpPr/>
          <p:nvPr/>
        </p:nvSpPr>
        <p:spPr>
          <a:xfrm>
            <a:off x="4636008" y="3401568"/>
            <a:ext cx="2880360" cy="1005840"/>
          </a:xfrm>
          <a:prstGeom prst="rect">
            <a:avLst/>
          </a:prstGeom>
          <a:noFill/>
          <a:ln/>
        </p:spPr>
        <p:txBody>
          <a:bodyPr wrap="square" lIns="0" tIns="0" rIns="0" bIns="0" rtlCol="0" anchor="t"/>
          <a:lstStyle/>
          <a:p>
            <a:pPr indent="0" marL="0">
              <a:buNone/>
            </a:pPr>
            <a:r>
              <a:rPr lang="en-US" sz="1300" dirty="0">
                <a:solidFill>
                  <a:srgbClr val="2C3E54"/>
                </a:solidFill>
                <a:latin typeface="Calibri" pitchFamily="34" charset="0"/>
                <a:ea typeface="Calibri" pitchFamily="34" charset="-122"/>
                <a:cs typeface="Calibri" pitchFamily="34" charset="-120"/>
              </a:rPr>
              <a:t>A name that does not exist made us walk from the root every time.</a:t>
            </a:r>
            <a:endParaRPr lang="en-US" sz="1300" dirty="0"/>
          </a:p>
        </p:txBody>
      </p:sp>
      <p:sp>
        <p:nvSpPr>
          <p:cNvPr id="13" name="Text 11"/>
          <p:cNvSpPr/>
          <p:nvPr/>
        </p:nvSpPr>
        <p:spPr>
          <a:xfrm>
            <a:off x="4636008" y="4462272"/>
            <a:ext cx="2880360" cy="274320"/>
          </a:xfrm>
          <a:prstGeom prst="rect">
            <a:avLst/>
          </a:prstGeom>
          <a:noFill/>
          <a:ln/>
        </p:spPr>
        <p:txBody>
          <a:bodyPr wrap="square" lIns="0" tIns="0" rIns="0" bIns="0" rtlCol="0" anchor="ctr"/>
          <a:lstStyle/>
          <a:p>
            <a:pPr indent="0" marL="0">
              <a:buNone/>
            </a:pPr>
            <a:r>
              <a:rPr lang="en-US" sz="1100" b="1" dirty="0">
                <a:solidFill>
                  <a:srgbClr val="17827A"/>
                </a:solidFill>
                <a:latin typeface="Courier New" pitchFamily="34" charset="0"/>
                <a:ea typeface="Courier New" pitchFamily="34" charset="-122"/>
                <a:cs typeface="Courier New" pitchFamily="34" charset="-120"/>
              </a:rPr>
              <a:t>RFC 2308 §3</a:t>
            </a:r>
            <a:endParaRPr lang="en-US" sz="1100" dirty="0"/>
          </a:p>
        </p:txBody>
      </p:sp>
      <p:sp>
        <p:nvSpPr>
          <p:cNvPr id="14" name="Shape 12"/>
          <p:cNvSpPr/>
          <p:nvPr/>
        </p:nvSpPr>
        <p:spPr>
          <a:xfrm>
            <a:off x="8083296" y="1783080"/>
            <a:ext cx="3429000" cy="3200400"/>
          </a:xfrm>
          <a:prstGeom prst="roundRect">
            <a:avLst>
              <a:gd name="adj" fmla="val 1429"/>
            </a:avLst>
          </a:prstGeom>
          <a:solidFill>
            <a:srgbClr val="EEF2F6"/>
          </a:solidFill>
          <a:ln w="12700">
            <a:solidFill>
              <a:srgbClr val="333333"/>
            </a:solidFill>
            <a:prstDash val="solid"/>
          </a:ln>
        </p:spPr>
      </p:sp>
      <p:sp>
        <p:nvSpPr>
          <p:cNvPr id="15" name="Text 13"/>
          <p:cNvSpPr/>
          <p:nvPr/>
        </p:nvSpPr>
        <p:spPr>
          <a:xfrm>
            <a:off x="8357616" y="2011680"/>
            <a:ext cx="914400" cy="548640"/>
          </a:xfrm>
          <a:prstGeom prst="rect">
            <a:avLst/>
          </a:prstGeom>
          <a:noFill/>
          <a:ln/>
        </p:spPr>
        <p:txBody>
          <a:bodyPr wrap="square" lIns="0" tIns="0" rIns="0" bIns="0" rtlCol="0" anchor="ctr"/>
          <a:lstStyle/>
          <a:p>
            <a:pPr indent="0" marL="0">
              <a:buNone/>
            </a:pPr>
            <a:r>
              <a:rPr lang="en-US" sz="3000" b="1" dirty="0">
                <a:solidFill>
                  <a:srgbClr val="C1462E"/>
                </a:solidFill>
                <a:latin typeface="Cambria" pitchFamily="34" charset="0"/>
                <a:ea typeface="Cambria" pitchFamily="34" charset="-122"/>
                <a:cs typeface="Cambria" pitchFamily="34" charset="-120"/>
              </a:rPr>
              <a:t>03</a:t>
            </a:r>
            <a:endParaRPr lang="en-US" sz="3000" dirty="0"/>
          </a:p>
        </p:txBody>
      </p:sp>
      <p:sp>
        <p:nvSpPr>
          <p:cNvPr id="16" name="Text 14"/>
          <p:cNvSpPr/>
          <p:nvPr/>
        </p:nvSpPr>
        <p:spPr>
          <a:xfrm>
            <a:off x="8357616" y="2670048"/>
            <a:ext cx="2880360" cy="685800"/>
          </a:xfrm>
          <a:prstGeom prst="rect">
            <a:avLst/>
          </a:prstGeom>
          <a:noFill/>
          <a:ln/>
        </p:spPr>
        <p:txBody>
          <a:bodyPr wrap="square" lIns="0" tIns="0" rIns="0" bIns="0" rtlCol="0" anchor="t"/>
          <a:lstStyle/>
          <a:p>
            <a:pPr indent="0" marL="0">
              <a:buNone/>
            </a:pPr>
            <a:r>
              <a:rPr lang="en-US" sz="1700" b="1" dirty="0">
                <a:solidFill>
                  <a:srgbClr val="10192B"/>
                </a:solidFill>
                <a:latin typeface="Calibri" pitchFamily="34" charset="0"/>
                <a:ea typeface="Calibri" pitchFamily="34" charset="-122"/>
                <a:cs typeface="Calibri" pitchFamily="34" charset="-120"/>
              </a:rPr>
              <a:t>One bad server stopped us</a:t>
            </a:r>
            <a:endParaRPr lang="en-US" sz="1700" dirty="0"/>
          </a:p>
        </p:txBody>
      </p:sp>
      <p:sp>
        <p:nvSpPr>
          <p:cNvPr id="17" name="Text 15"/>
          <p:cNvSpPr/>
          <p:nvPr/>
        </p:nvSpPr>
        <p:spPr>
          <a:xfrm>
            <a:off x="8357616" y="3401568"/>
            <a:ext cx="2880360" cy="1005840"/>
          </a:xfrm>
          <a:prstGeom prst="rect">
            <a:avLst/>
          </a:prstGeom>
          <a:noFill/>
          <a:ln/>
        </p:spPr>
        <p:txBody>
          <a:bodyPr wrap="square" lIns="0" tIns="0" rIns="0" bIns="0" rtlCol="0" anchor="t"/>
          <a:lstStyle/>
          <a:p>
            <a:pPr indent="0" marL="0">
              <a:buNone/>
            </a:pPr>
            <a:r>
              <a:rPr lang="en-US" sz="1300" dirty="0">
                <a:solidFill>
                  <a:srgbClr val="2C3E54"/>
                </a:solidFill>
                <a:latin typeface="Calibri" pitchFamily="34" charset="0"/>
                <a:ea typeface="Calibri" pitchFamily="34" charset="-122"/>
                <a:cs typeface="Calibri" pitchFamily="34" charset="-120"/>
              </a:rPr>
              <a:t>We took the first glue record and gave up when it did not answer.</a:t>
            </a:r>
            <a:endParaRPr lang="en-US" sz="1300" dirty="0"/>
          </a:p>
        </p:txBody>
      </p:sp>
      <p:sp>
        <p:nvSpPr>
          <p:cNvPr id="18" name="Text 16"/>
          <p:cNvSpPr/>
          <p:nvPr/>
        </p:nvSpPr>
        <p:spPr>
          <a:xfrm>
            <a:off x="8357616" y="4462272"/>
            <a:ext cx="2880360" cy="274320"/>
          </a:xfrm>
          <a:prstGeom prst="rect">
            <a:avLst/>
          </a:prstGeom>
          <a:noFill/>
          <a:ln/>
        </p:spPr>
        <p:txBody>
          <a:bodyPr wrap="square" lIns="0" tIns="0" rIns="0" bIns="0" rtlCol="0" anchor="ctr"/>
          <a:lstStyle/>
          <a:p>
            <a:pPr indent="0" marL="0">
              <a:buNone/>
            </a:pPr>
            <a:r>
              <a:rPr lang="en-US" sz="1100" b="1" dirty="0">
                <a:solidFill>
                  <a:srgbClr val="17827A"/>
                </a:solidFill>
                <a:latin typeface="Courier New" pitchFamily="34" charset="0"/>
                <a:ea typeface="Courier New" pitchFamily="34" charset="-122"/>
                <a:cs typeface="Courier New" pitchFamily="34" charset="-120"/>
              </a:rPr>
              <a:t>RFC 1034 §5.3.3</a:t>
            </a:r>
            <a:endParaRPr lang="en-US" sz="1100" dirty="0"/>
          </a:p>
        </p:txBody>
      </p:sp>
      <p:sp>
        <p:nvSpPr>
          <p:cNvPr id="19" name="Text 17"/>
          <p:cNvSpPr/>
          <p:nvPr/>
        </p:nvSpPr>
        <p:spPr>
          <a:xfrm>
            <a:off x="640080" y="5257800"/>
            <a:ext cx="10881360" cy="320040"/>
          </a:xfrm>
          <a:prstGeom prst="rect">
            <a:avLst/>
          </a:prstGeom>
          <a:noFill/>
          <a:ln/>
        </p:spPr>
        <p:txBody>
          <a:bodyPr wrap="square" lIns="0" tIns="0" rIns="0" bIns="0" rtlCol="0" anchor="ctr"/>
          <a:lstStyle/>
          <a:p>
            <a:pPr indent="0" marL="0">
              <a:buNone/>
            </a:pPr>
            <a:r>
              <a:rPr lang="en-US" sz="1400" i="1" dirty="0">
                <a:solidFill>
                  <a:srgbClr val="6B7A8C"/>
                </a:solidFill>
                <a:latin typeface="Calibri" pitchFamily="34" charset="0"/>
                <a:ea typeface="Calibri" pitchFamily="34" charset="-122"/>
                <a:cs typeface="Calibri" pitchFamily="34" charset="-120"/>
              </a:rPr>
              <a:t>Each one lines up with a specific RFC section.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17827A"/>
                </a:solidFill>
                <a:latin typeface="Calibri" pitchFamily="34" charset="0"/>
                <a:ea typeface="Calibri" pitchFamily="34" charset="-122"/>
                <a:cs typeface="Calibri" pitchFamily="34" charset="-120"/>
              </a:rPr>
              <a:t>RFC 1034 §3.6.2</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3400" b="1" dirty="0">
                <a:solidFill>
                  <a:srgbClr val="10192B"/>
                </a:solidFill>
                <a:latin typeface="Cambria" pitchFamily="34" charset="0"/>
                <a:ea typeface="Cambria" pitchFamily="34" charset="-122"/>
                <a:cs typeface="Cambria" pitchFamily="34" charset="-120"/>
              </a:rPr>
              <a:t>Extension 1: CNAME records</a:t>
            </a:r>
            <a:endParaRPr lang="en-US" sz="3400" dirty="0"/>
          </a:p>
        </p:txBody>
      </p:sp>
      <p:sp>
        <p:nvSpPr>
          <p:cNvPr id="4" name="Text 2"/>
          <p:cNvSpPr/>
          <p:nvPr/>
        </p:nvSpPr>
        <p:spPr>
          <a:xfrm>
            <a:off x="640080" y="1691640"/>
            <a:ext cx="10881360" cy="365760"/>
          </a:xfrm>
          <a:prstGeom prst="rect">
            <a:avLst/>
          </a:prstGeom>
          <a:noFill/>
          <a:ln/>
        </p:spPr>
        <p:txBody>
          <a:bodyPr wrap="square" lIns="0" tIns="0" rIns="0" bIns="0" rtlCol="0" anchor="ctr"/>
          <a:lstStyle/>
          <a:p>
            <a:pPr indent="0" marL="0">
              <a:buNone/>
            </a:pPr>
            <a:r>
              <a:rPr lang="en-US" sz="1500" dirty="0">
                <a:solidFill>
                  <a:srgbClr val="2C3E54"/>
                </a:solidFill>
                <a:latin typeface="Calibri" pitchFamily="34" charset="0"/>
                <a:ea typeface="Calibri" pitchFamily="34" charset="-122"/>
                <a:cs typeface="Calibri" pitchFamily="34" charset="-120"/>
              </a:rPr>
              <a:t>A CNAME is an alias. www.github.com has no A record of its own, it has a record saying its real name is github.com.</a:t>
            </a:r>
            <a:endParaRPr lang="en-US" sz="1500" dirty="0"/>
          </a:p>
        </p:txBody>
      </p:sp>
      <p:sp>
        <p:nvSpPr>
          <p:cNvPr id="5" name="Text 3"/>
          <p:cNvSpPr/>
          <p:nvPr/>
        </p:nvSpPr>
        <p:spPr>
          <a:xfrm>
            <a:off x="640080" y="2240280"/>
            <a:ext cx="2743200" cy="274320"/>
          </a:xfrm>
          <a:prstGeom prst="rect">
            <a:avLst/>
          </a:prstGeom>
          <a:noFill/>
          <a:ln/>
        </p:spPr>
        <p:txBody>
          <a:bodyPr wrap="square" lIns="0" tIns="0" rIns="0" bIns="0" rtlCol="0" anchor="ctr"/>
          <a:lstStyle/>
          <a:p>
            <a:pPr indent="0" marL="0">
              <a:buNone/>
            </a:pPr>
            <a:r>
              <a:rPr lang="en-US" sz="1200" b="1" spc="200" kern="0" dirty="0">
                <a:solidFill>
                  <a:srgbClr val="C1462E"/>
                </a:solidFill>
                <a:latin typeface="Calibri" pitchFamily="34" charset="0"/>
                <a:ea typeface="Calibri" pitchFamily="34" charset="-122"/>
                <a:cs typeface="Calibri" pitchFamily="34" charset="-120"/>
              </a:rPr>
              <a:t>BASELINE</a:t>
            </a:r>
            <a:endParaRPr lang="en-US" sz="1200" dirty="0"/>
          </a:p>
        </p:txBody>
      </p:sp>
      <p:sp>
        <p:nvSpPr>
          <p:cNvPr id="6" name="Shape 4"/>
          <p:cNvSpPr/>
          <p:nvPr/>
        </p:nvSpPr>
        <p:spPr>
          <a:xfrm>
            <a:off x="640080" y="2560320"/>
            <a:ext cx="5257800" cy="1371600"/>
          </a:xfrm>
          <a:prstGeom prst="roundRect">
            <a:avLst>
              <a:gd name="adj" fmla="val 4000"/>
            </a:avLst>
          </a:prstGeom>
          <a:solidFill>
            <a:srgbClr val="10192B"/>
          </a:solidFill>
          <a:ln w="12700">
            <a:solidFill>
              <a:srgbClr val="10192B"/>
            </a:solidFill>
            <a:prstDash val="solid"/>
          </a:ln>
        </p:spPr>
      </p:sp>
      <p:sp>
        <p:nvSpPr>
          <p:cNvPr id="7" name="Text 5"/>
          <p:cNvSpPr/>
          <p:nvPr/>
        </p:nvSpPr>
        <p:spPr>
          <a:xfrm>
            <a:off x="804672" y="2670048"/>
            <a:ext cx="4928616" cy="1152144"/>
          </a:xfrm>
          <a:prstGeom prst="rect">
            <a:avLst/>
          </a:prstGeom>
          <a:noFill/>
          <a:ln/>
        </p:spPr>
        <p:txBody>
          <a:bodyPr wrap="square" lIns="0" tIns="0" rIns="0" bIns="0" rtlCol="0" anchor="t"/>
          <a:lstStyle/>
          <a:p>
            <a:pPr indent="0" marL="0">
              <a:lnSpc>
                <a:spcPts val="1500"/>
              </a:lnSpc>
              <a:buNone/>
            </a:pPr>
            <a:r>
              <a:rPr lang="en-US" sz="1100" dirty="0">
                <a:solidFill>
                  <a:srgbClr val="D6E2EE"/>
                </a:solidFill>
                <a:latin typeface="Courier New" pitchFamily="34" charset="0"/>
                <a:ea typeface="Courier New" pitchFamily="34" charset="-122"/>
                <a:cs typeface="Courier New" pitchFamily="34" charset="-120"/>
              </a:rPr>
              <a:t>$ python resolver.py www.github.com</a:t>
            </a:r>
            <a:endParaRPr lang="en-US" sz="1100" dirty="0"/>
          </a:p>
          <a:p>
            <a:pPr indent="0" marL="0">
              <a:lnSpc>
                <a:spcPts val="1500"/>
              </a:lnSpc>
              <a:buNone/>
            </a:pPr>
            <a:r>
              <a:rPr lang="en-US" sz="1100" dirty="0">
                <a:solidFill>
                  <a:srgbClr val="D6E2EE"/>
                </a:solidFill>
                <a:latin typeface="Courier New" pitchFamily="34" charset="0"/>
                <a:ea typeface="Courier New" pitchFamily="34" charset="-122"/>
                <a:cs typeface="Courier New" pitchFamily="34" charset="-120"/>
              </a:rPr>
              <a:t>error: could not resolve www.github.com</a:t>
            </a:r>
            <a:endParaRPr lang="en-US" sz="1100" dirty="0"/>
          </a:p>
        </p:txBody>
      </p:sp>
      <p:sp>
        <p:nvSpPr>
          <p:cNvPr id="8" name="Text 6"/>
          <p:cNvSpPr/>
          <p:nvPr/>
        </p:nvSpPr>
        <p:spPr>
          <a:xfrm>
            <a:off x="640080" y="4069080"/>
            <a:ext cx="5257800" cy="548640"/>
          </a:xfrm>
          <a:prstGeom prst="rect">
            <a:avLst/>
          </a:prstGeom>
          <a:noFill/>
          <a:ln/>
        </p:spPr>
        <p:txBody>
          <a:bodyPr wrap="square" lIns="0" tIns="0" rIns="0" bIns="0" rtlCol="0" anchor="t"/>
          <a:lstStyle/>
          <a:p>
            <a:pPr indent="0" marL="0">
              <a:buNone/>
            </a:pPr>
            <a:r>
              <a:rPr lang="en-US" sz="1300" dirty="0">
                <a:solidFill>
                  <a:srgbClr val="2C3E54"/>
                </a:solidFill>
                <a:latin typeface="Calibri" pitchFamily="34" charset="0"/>
                <a:ea typeface="Calibri" pitchFamily="34" charset="-122"/>
                <a:cs typeface="Calibri" pitchFamily="34" charset="-120"/>
              </a:rPr>
              <a:t>No A record, no glue, no NS record, so it hit our error case and quit.</a:t>
            </a:r>
            <a:endParaRPr lang="en-US" sz="1300" dirty="0"/>
          </a:p>
        </p:txBody>
      </p:sp>
      <p:sp>
        <p:nvSpPr>
          <p:cNvPr id="9" name="Text 7"/>
          <p:cNvSpPr/>
          <p:nvPr/>
        </p:nvSpPr>
        <p:spPr>
          <a:xfrm>
            <a:off x="6263640" y="2240280"/>
            <a:ext cx="2743200" cy="274320"/>
          </a:xfrm>
          <a:prstGeom prst="rect">
            <a:avLst/>
          </a:prstGeom>
          <a:noFill/>
          <a:ln/>
        </p:spPr>
        <p:txBody>
          <a:bodyPr wrap="square" lIns="0" tIns="0" rIns="0" bIns="0" rtlCol="0" anchor="ctr"/>
          <a:lstStyle/>
          <a:p>
            <a:pPr indent="0" marL="0">
              <a:buNone/>
            </a:pPr>
            <a:r>
              <a:rPr lang="en-US" sz="1200" b="1" spc="200" kern="0" dirty="0">
                <a:solidFill>
                  <a:srgbClr val="17827A"/>
                </a:solidFill>
                <a:latin typeface="Calibri" pitchFamily="34" charset="0"/>
                <a:ea typeface="Calibri" pitchFamily="34" charset="-122"/>
                <a:cs typeface="Calibri" pitchFamily="34" charset="-120"/>
              </a:rPr>
              <a:t>WITH THE FIX</a:t>
            </a:r>
            <a:endParaRPr lang="en-US" sz="1200" dirty="0"/>
          </a:p>
        </p:txBody>
      </p:sp>
      <p:sp>
        <p:nvSpPr>
          <p:cNvPr id="10" name="Shape 8"/>
          <p:cNvSpPr/>
          <p:nvPr/>
        </p:nvSpPr>
        <p:spPr>
          <a:xfrm>
            <a:off x="6263640" y="2560320"/>
            <a:ext cx="5257800" cy="1371600"/>
          </a:xfrm>
          <a:prstGeom prst="roundRect">
            <a:avLst>
              <a:gd name="adj" fmla="val 4000"/>
            </a:avLst>
          </a:prstGeom>
          <a:solidFill>
            <a:srgbClr val="10192B"/>
          </a:solidFill>
          <a:ln w="12700">
            <a:solidFill>
              <a:srgbClr val="10192B"/>
            </a:solidFill>
            <a:prstDash val="solid"/>
          </a:ln>
        </p:spPr>
      </p:sp>
      <p:sp>
        <p:nvSpPr>
          <p:cNvPr id="11" name="Text 9"/>
          <p:cNvSpPr/>
          <p:nvPr/>
        </p:nvSpPr>
        <p:spPr>
          <a:xfrm>
            <a:off x="6428232" y="2670048"/>
            <a:ext cx="4928616" cy="1152144"/>
          </a:xfrm>
          <a:prstGeom prst="rect">
            <a:avLst/>
          </a:prstGeom>
          <a:noFill/>
          <a:ln/>
        </p:spPr>
        <p:txBody>
          <a:bodyPr wrap="square" lIns="0" tIns="0" rIns="0" bIns="0" rtlCol="0" anchor="t"/>
          <a:lstStyle/>
          <a:p>
            <a:pPr indent="0" marL="0">
              <a:lnSpc>
                <a:spcPts val="1500"/>
              </a:lnSpc>
              <a:buNone/>
            </a:pPr>
            <a:r>
              <a:rPr lang="en-US" sz="1100" dirty="0">
                <a:solidFill>
                  <a:srgbClr val="D6E2EE"/>
                </a:solidFill>
                <a:latin typeface="Courier New" pitchFamily="34" charset="0"/>
                <a:ea typeface="Courier New" pitchFamily="34" charset="-122"/>
                <a:cs typeface="Courier New" pitchFamily="34" charset="-120"/>
              </a:rPr>
              <a:t>www.github.com is a CNAME for github.com,</a:t>
            </a:r>
            <a:endParaRPr lang="en-US" sz="1100" dirty="0"/>
          </a:p>
          <a:p>
            <a:pPr indent="0" marL="0">
              <a:lnSpc>
                <a:spcPts val="1500"/>
              </a:lnSpc>
              <a:buNone/>
            </a:pPr>
            <a:r>
              <a:rPr lang="en-US" sz="1100" dirty="0">
                <a:solidFill>
                  <a:srgbClr val="D6E2EE"/>
                </a:solidFill>
                <a:latin typeface="Courier New" pitchFamily="34" charset="0"/>
                <a:ea typeface="Courier New" pitchFamily="34" charset="-122"/>
                <a:cs typeface="Courier New" pitchFamily="34" charset="-120"/>
              </a:rPr>
              <a:t>  restarting</a:t>
            </a:r>
            <a:endParaRPr lang="en-US" sz="1100" dirty="0"/>
          </a:p>
          <a:p>
            <a:pPr indent="0" marL="0">
              <a:lnSpc>
                <a:spcPts val="1500"/>
              </a:lnSpc>
              <a:buNone/>
            </a:pPr>
            <a:r>
              <a:rPr lang="en-US" sz="1100" dirty="0">
                <a:solidFill>
                  <a:srgbClr val="D6E2EE"/>
                </a:solidFill>
                <a:latin typeface="Courier New" pitchFamily="34" charset="0"/>
                <a:ea typeface="Courier New" pitchFamily="34" charset="-122"/>
                <a:cs typeface="Courier New" pitchFamily="34" charset="-120"/>
              </a:rPr>
              <a:t>[cache hit] github.com</a:t>
            </a:r>
            <a:endParaRPr lang="en-US" sz="1100" dirty="0"/>
          </a:p>
          <a:p>
            <a:pPr indent="0" marL="0">
              <a:lnSpc>
                <a:spcPts val="1500"/>
              </a:lnSpc>
              <a:buNone/>
            </a:pPr>
            <a:r>
              <a:rPr lang="en-US" sz="1100" dirty="0">
                <a:solidFill>
                  <a:srgbClr val="D6E2EE"/>
                </a:solidFill>
                <a:latin typeface="Courier New" pitchFamily="34" charset="0"/>
                <a:ea typeface="Courier New" pitchFamily="34" charset="-122"/>
                <a:cs typeface="Courier New" pitchFamily="34" charset="-120"/>
              </a:rPr>
              <a:t>20.29.134.23</a:t>
            </a:r>
            <a:endParaRPr lang="en-US" sz="1100" dirty="0"/>
          </a:p>
        </p:txBody>
      </p:sp>
      <p:sp>
        <p:nvSpPr>
          <p:cNvPr id="12" name="Text 10"/>
          <p:cNvSpPr/>
          <p:nvPr/>
        </p:nvSpPr>
        <p:spPr>
          <a:xfrm>
            <a:off x="6263640" y="4069080"/>
            <a:ext cx="5257800" cy="685800"/>
          </a:xfrm>
          <a:prstGeom prst="rect">
            <a:avLst/>
          </a:prstGeom>
          <a:noFill/>
          <a:ln/>
        </p:spPr>
        <p:txBody>
          <a:bodyPr wrap="square" lIns="0" tIns="0" rIns="0" bIns="0" rtlCol="0" anchor="t"/>
          <a:lstStyle/>
          <a:p>
            <a:pPr indent="0" marL="0">
              <a:buNone/>
            </a:pPr>
            <a:r>
              <a:rPr lang="en-US" sz="1300" dirty="0">
                <a:solidFill>
                  <a:srgbClr val="2C3E54"/>
                </a:solidFill>
                <a:latin typeface="Calibri" pitchFamily="34" charset="0"/>
                <a:ea typeface="Calibri" pitchFamily="34" charset="-122"/>
                <a:cs typeface="Calibri" pitchFamily="34" charset="-120"/>
              </a:rPr>
              <a:t>We look for the CNAME and start over on the name it points to. A depth counter stops us at 10 hops so a chain that loops cannot hang us.</a:t>
            </a:r>
            <a:endParaRPr lang="en-US" sz="1300" dirty="0"/>
          </a:p>
        </p:txBody>
      </p:sp>
      <p:sp>
        <p:nvSpPr>
          <p:cNvPr id="13" name="Text 11"/>
          <p:cNvSpPr/>
          <p:nvPr/>
        </p:nvSpPr>
        <p:spPr>
          <a:xfrm>
            <a:off x="640080" y="5074920"/>
            <a:ext cx="10881360" cy="365760"/>
          </a:xfrm>
          <a:prstGeom prst="rect">
            <a:avLst/>
          </a:prstGeom>
          <a:noFill/>
          <a:ln/>
        </p:spPr>
        <p:txBody>
          <a:bodyPr wrap="square" lIns="0" tIns="0" rIns="0" bIns="0" rtlCol="0" anchor="ctr"/>
          <a:lstStyle/>
          <a:p>
            <a:pPr indent="0" marL="0">
              <a:buNone/>
            </a:pPr>
            <a:r>
              <a:rPr lang="en-US" sz="1400" b="1" dirty="0">
                <a:solidFill>
                  <a:srgbClr val="10192B"/>
                </a:solidFill>
                <a:latin typeface="Calibri" pitchFamily="34" charset="0"/>
                <a:ea typeface="Calibri" pitchFamily="34" charset="-122"/>
                <a:cs typeface="Calibri" pitchFamily="34" charset="-120"/>
              </a:rPr>
              <a:t>Without this, hostnames behind a CDN or load balancer do not resolve at all.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17827A"/>
                </a:solidFill>
                <a:latin typeface="Calibri" pitchFamily="34" charset="0"/>
                <a:ea typeface="Calibri" pitchFamily="34" charset="-122"/>
                <a:cs typeface="Calibri" pitchFamily="34" charset="-120"/>
              </a:rPr>
              <a:t>RFC 2308 §3, §4, §5</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3400" b="1" dirty="0">
                <a:solidFill>
                  <a:srgbClr val="10192B"/>
                </a:solidFill>
                <a:latin typeface="Cambria" pitchFamily="34" charset="0"/>
                <a:ea typeface="Cambria" pitchFamily="34" charset="-122"/>
                <a:cs typeface="Cambria" pitchFamily="34" charset="-120"/>
              </a:rPr>
              <a:t>Extension 2: negative caching</a:t>
            </a:r>
            <a:endParaRPr lang="en-US" sz="3400" dirty="0"/>
          </a:p>
        </p:txBody>
      </p:sp>
      <p:sp>
        <p:nvSpPr>
          <p:cNvPr id="4" name="Text 2"/>
          <p:cNvSpPr/>
          <p:nvPr/>
        </p:nvSpPr>
        <p:spPr>
          <a:xfrm>
            <a:off x="640080" y="1691640"/>
            <a:ext cx="10881360" cy="411480"/>
          </a:xfrm>
          <a:prstGeom prst="rect">
            <a:avLst/>
          </a:prstGeom>
          <a:noFill/>
          <a:ln/>
        </p:spPr>
        <p:txBody>
          <a:bodyPr wrap="square" lIns="0" tIns="0" rIns="0" bIns="0" rtlCol="0" anchor="ctr"/>
          <a:lstStyle/>
          <a:p>
            <a:pPr indent="0" marL="0">
              <a:buNone/>
            </a:pPr>
            <a:r>
              <a:rPr lang="en-US" sz="1500" dirty="0">
                <a:solidFill>
                  <a:srgbClr val="2C3E54"/>
                </a:solidFill>
                <a:latin typeface="Calibri" pitchFamily="34" charset="0"/>
                <a:ea typeface="Calibri" pitchFamily="34" charset="-122"/>
                <a:cs typeface="Calibri" pitchFamily="34" charset="-120"/>
              </a:rPr>
              <a:t>Our Phase 2 cache only stored answers that worked, so every lookup of a name that does not exist walked the hierarchy again from the root.</a:t>
            </a:r>
            <a:endParaRPr lang="en-US" sz="1500" dirty="0"/>
          </a:p>
        </p:txBody>
      </p:sp>
      <p:sp>
        <p:nvSpPr>
          <p:cNvPr id="5" name="Shape 3"/>
          <p:cNvSpPr/>
          <p:nvPr/>
        </p:nvSpPr>
        <p:spPr>
          <a:xfrm>
            <a:off x="640080" y="2331720"/>
            <a:ext cx="5852160" cy="2286000"/>
          </a:xfrm>
          <a:prstGeom prst="roundRect">
            <a:avLst>
              <a:gd name="adj" fmla="val 2400"/>
            </a:avLst>
          </a:prstGeom>
          <a:solidFill>
            <a:srgbClr val="10192B"/>
          </a:solidFill>
          <a:ln w="12700">
            <a:solidFill>
              <a:srgbClr val="10192B"/>
            </a:solidFill>
            <a:prstDash val="solid"/>
          </a:ln>
        </p:spPr>
      </p:sp>
      <p:sp>
        <p:nvSpPr>
          <p:cNvPr id="6" name="Text 4"/>
          <p:cNvSpPr/>
          <p:nvPr/>
        </p:nvSpPr>
        <p:spPr>
          <a:xfrm>
            <a:off x="804672" y="2441448"/>
            <a:ext cx="5522976" cy="2066544"/>
          </a:xfrm>
          <a:prstGeom prst="rect">
            <a:avLst/>
          </a:prstGeom>
          <a:noFill/>
          <a:ln/>
        </p:spPr>
        <p:txBody>
          <a:bodyPr wrap="square" lIns="0" tIns="0" rIns="0" bIns="0" rtlCol="0" anchor="t"/>
          <a:lstStyle/>
          <a:p>
            <a:pPr indent="0" marL="0">
              <a:lnSpc>
                <a:spcPts val="1620"/>
              </a:lnSpc>
              <a:buNone/>
            </a:pPr>
            <a:r>
              <a:rPr lang="en-US" sz="1200" dirty="0">
                <a:solidFill>
                  <a:srgbClr val="D6E2EE"/>
                </a:solidFill>
                <a:latin typeface="Courier New" pitchFamily="34" charset="0"/>
                <a:ea typeface="Courier New" pitchFamily="34" charset="-122"/>
                <a:cs typeface="Courier New" pitchFamily="34" charset="-120"/>
              </a:rPr>
              <a:t>$ python resolver.py notarealdomain.com --repeat 2</a:t>
            </a:r>
            <a:endParaRPr lang="en-US" sz="1200" dirty="0"/>
          </a:p>
          <a:p>
            <a:pPr indent="0" marL="0">
              <a:lnSpc>
                <a:spcPts val="1620"/>
              </a:lnSpc>
              <a:buNone/>
            </a:pPr>
            <a:endParaRPr lang="en-US" sz="1200" dirty="0"/>
          </a:p>
          <a:p>
            <a:pPr indent="0" marL="0">
              <a:lnSpc>
                <a:spcPts val="1620"/>
              </a:lnSpc>
              <a:buNone/>
            </a:pPr>
            <a:r>
              <a:rPr lang="en-US" sz="1200" dirty="0">
                <a:solidFill>
                  <a:srgbClr val="D6E2EE"/>
                </a:solidFill>
                <a:latin typeface="Courier New" pitchFamily="34" charset="0"/>
                <a:ea typeface="Courier New" pitchFamily="34" charset="-122"/>
                <a:cs typeface="Courier New" pitchFamily="34" charset="-120"/>
              </a:rPr>
              <a:t>--- lookup 1 ---</a:t>
            </a:r>
            <a:endParaRPr lang="en-US" sz="1200" dirty="0"/>
          </a:p>
          <a:p>
            <a:pPr indent="0" marL="0">
              <a:lnSpc>
                <a:spcPts val="1620"/>
              </a:lnSpc>
              <a:buNone/>
            </a:pPr>
            <a:r>
              <a:rPr lang="en-US" sz="1200" dirty="0">
                <a:solidFill>
                  <a:srgbClr val="D6E2EE"/>
                </a:solidFill>
                <a:latin typeface="Courier New" pitchFamily="34" charset="0"/>
                <a:ea typeface="Courier New" pitchFamily="34" charset="-122"/>
                <a:cs typeface="Courier New" pitchFamily="34" charset="-120"/>
              </a:rPr>
              <a:t>NXDOMAIN: does not exist</a:t>
            </a:r>
            <a:endParaRPr lang="en-US" sz="1200" dirty="0"/>
          </a:p>
          <a:p>
            <a:pPr indent="0" marL="0">
              <a:lnSpc>
                <a:spcPts val="1620"/>
              </a:lnSpc>
              <a:buNone/>
            </a:pPr>
            <a:r>
              <a:rPr lang="en-US" sz="1200" dirty="0">
                <a:solidFill>
                  <a:srgbClr val="D6E2EE"/>
                </a:solidFill>
                <a:latin typeface="Courier New" pitchFamily="34" charset="0"/>
                <a:ea typeface="Courier New" pitchFamily="34" charset="-122"/>
                <a:cs typeface="Courier New" pitchFamily="34" charset="-120"/>
              </a:rPr>
              <a:t>(2 queries sent)</a:t>
            </a:r>
            <a:endParaRPr lang="en-US" sz="1200" dirty="0"/>
          </a:p>
          <a:p>
            <a:pPr indent="0" marL="0">
              <a:lnSpc>
                <a:spcPts val="1620"/>
              </a:lnSpc>
              <a:buNone/>
            </a:pPr>
            <a:endParaRPr lang="en-US" sz="1200" dirty="0"/>
          </a:p>
          <a:p>
            <a:pPr indent="0" marL="0">
              <a:lnSpc>
                <a:spcPts val="1620"/>
              </a:lnSpc>
              <a:buNone/>
            </a:pPr>
            <a:r>
              <a:rPr lang="en-US" sz="1200" dirty="0">
                <a:solidFill>
                  <a:srgbClr val="D6E2EE"/>
                </a:solidFill>
                <a:latin typeface="Courier New" pitchFamily="34" charset="0"/>
                <a:ea typeface="Courier New" pitchFamily="34" charset="-122"/>
                <a:cs typeface="Courier New" pitchFamily="34" charset="-120"/>
              </a:rPr>
              <a:t>--- lookup 2 ---</a:t>
            </a:r>
            <a:endParaRPr lang="en-US" sz="1200" dirty="0"/>
          </a:p>
          <a:p>
            <a:pPr indent="0" marL="0">
              <a:lnSpc>
                <a:spcPts val="1620"/>
              </a:lnSpc>
              <a:buNone/>
            </a:pPr>
            <a:r>
              <a:rPr lang="en-US" sz="1200" dirty="0">
                <a:solidFill>
                  <a:srgbClr val="D6E2EE"/>
                </a:solidFill>
                <a:latin typeface="Courier New" pitchFamily="34" charset="0"/>
                <a:ea typeface="Courier New" pitchFamily="34" charset="-122"/>
                <a:cs typeface="Courier New" pitchFamily="34" charset="-120"/>
              </a:rPr>
              <a:t>NXDOMAIN: does not exist (cached)</a:t>
            </a:r>
            <a:endParaRPr lang="en-US" sz="1200" dirty="0"/>
          </a:p>
          <a:p>
            <a:pPr indent="0" marL="0">
              <a:lnSpc>
                <a:spcPts val="1620"/>
              </a:lnSpc>
              <a:buNone/>
            </a:pPr>
            <a:r>
              <a:rPr lang="en-US" sz="1200" dirty="0">
                <a:solidFill>
                  <a:srgbClr val="D6E2EE"/>
                </a:solidFill>
                <a:latin typeface="Courier New" pitchFamily="34" charset="0"/>
                <a:ea typeface="Courier New" pitchFamily="34" charset="-122"/>
                <a:cs typeface="Courier New" pitchFamily="34" charset="-120"/>
              </a:rPr>
              <a:t>(0 queries sent)</a:t>
            </a:r>
            <a:endParaRPr lang="en-US" sz="1200" dirty="0"/>
          </a:p>
        </p:txBody>
      </p:sp>
      <p:sp>
        <p:nvSpPr>
          <p:cNvPr id="7" name="Text 5"/>
          <p:cNvSpPr/>
          <p:nvPr/>
        </p:nvSpPr>
        <p:spPr>
          <a:xfrm>
            <a:off x="6858000" y="2331720"/>
            <a:ext cx="4663440" cy="365760"/>
          </a:xfrm>
          <a:prstGeom prst="rect">
            <a:avLst/>
          </a:prstGeom>
          <a:noFill/>
          <a:ln/>
        </p:spPr>
        <p:txBody>
          <a:bodyPr wrap="square" lIns="0" tIns="0" rIns="0" bIns="0" rtlCol="0" anchor="ctr"/>
          <a:lstStyle/>
          <a:p>
            <a:pPr indent="0" marL="0">
              <a:buNone/>
            </a:pPr>
            <a:r>
              <a:rPr lang="en-US" sz="1900" b="1" dirty="0">
                <a:solidFill>
                  <a:srgbClr val="10192B"/>
                </a:solidFill>
                <a:latin typeface="Cambria" pitchFamily="34" charset="0"/>
                <a:ea typeface="Cambria" pitchFamily="34" charset="-122"/>
                <a:cs typeface="Cambria" pitchFamily="34" charset="-120"/>
              </a:rPr>
              <a:t>Picking the TTL</a:t>
            </a:r>
            <a:endParaRPr lang="en-US" sz="1900" dirty="0"/>
          </a:p>
        </p:txBody>
      </p:sp>
      <p:sp>
        <p:nvSpPr>
          <p:cNvPr id="8" name="Text 6"/>
          <p:cNvSpPr/>
          <p:nvPr/>
        </p:nvSpPr>
        <p:spPr>
          <a:xfrm>
            <a:off x="6858000" y="2788920"/>
            <a:ext cx="466344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C3E54"/>
                </a:solidFill>
                <a:latin typeface="Calibri" pitchFamily="34" charset="0"/>
                <a:ea typeface="Calibri" pitchFamily="34" charset="-122"/>
                <a:cs typeface="Calibri" pitchFamily="34" charset="-120"/>
              </a:rPr>
              <a:t>There is no record to pull a TTL off, since nothing came back.</a:t>
            </a:r>
            <a:endParaRPr lang="en-US" sz="1300" dirty="0"/>
          </a:p>
          <a:p>
            <a:pPr marL="342900" indent="-342900">
              <a:spcAft>
                <a:spcPts val="600"/>
              </a:spcAft>
              <a:buSzPct val="100000"/>
              <a:buChar char="•"/>
            </a:pPr>
            <a:r>
              <a:rPr lang="en-US" sz="1300" dirty="0">
                <a:solidFill>
                  <a:srgbClr val="2C3E54"/>
                </a:solidFill>
                <a:latin typeface="Calibri" pitchFamily="34" charset="0"/>
                <a:ea typeface="Calibri" pitchFamily="34" charset="-122"/>
                <a:cs typeface="Calibri" pitchFamily="34" charset="-120"/>
              </a:rPr>
              <a:t>RFC 2308 says use the SOA in the authority section instead.</a:t>
            </a:r>
            <a:endParaRPr lang="en-US" sz="1300" dirty="0"/>
          </a:p>
          <a:p>
            <a:pPr marL="342900" indent="-342900">
              <a:spcAft>
                <a:spcPts val="600"/>
              </a:spcAft>
              <a:buSzPct val="100000"/>
              <a:buChar char="•"/>
            </a:pPr>
            <a:r>
              <a:rPr lang="en-US" sz="1300" dirty="0">
                <a:solidFill>
                  <a:srgbClr val="2C3E54"/>
                </a:solidFill>
                <a:latin typeface="Calibri" pitchFamily="34" charset="0"/>
                <a:ea typeface="Calibri" pitchFamily="34" charset="-122"/>
                <a:cs typeface="Calibri" pitchFamily="34" charset="-120"/>
              </a:rPr>
              <a:t>We take min(SOA TTL, SOA MINIMUM).</a:t>
            </a:r>
            <a:endParaRPr lang="en-US" sz="1300" dirty="0"/>
          </a:p>
          <a:p>
            <a:pPr marL="342900" indent="-342900">
              <a:spcAft>
                <a:spcPts val="600"/>
              </a:spcAft>
              <a:buSzPct val="100000"/>
              <a:buChar char="•"/>
            </a:pPr>
            <a:r>
              <a:rPr lang="en-US" sz="1300" dirty="0">
                <a:solidFill>
                  <a:srgbClr val="2C3E54"/>
                </a:solidFill>
                <a:latin typeface="Calibri" pitchFamily="34" charset="0"/>
                <a:ea typeface="Calibri" pitchFamily="34" charset="-122"/>
                <a:cs typeface="Calibri" pitchFamily="34" charset="-120"/>
              </a:rPr>
              <a:t>MINIMUM can be a week long, so we go with whichever is smaller.</a:t>
            </a:r>
            <a:endParaRPr lang="en-US" sz="1300" dirty="0"/>
          </a:p>
        </p:txBody>
      </p:sp>
      <p:sp>
        <p:nvSpPr>
          <p:cNvPr id="9" name="Text 7"/>
          <p:cNvSpPr/>
          <p:nvPr/>
        </p:nvSpPr>
        <p:spPr>
          <a:xfrm>
            <a:off x="640080" y="4937760"/>
            <a:ext cx="10881360" cy="365760"/>
          </a:xfrm>
          <a:prstGeom prst="rect">
            <a:avLst/>
          </a:prstGeom>
          <a:noFill/>
          <a:ln/>
        </p:spPr>
        <p:txBody>
          <a:bodyPr wrap="square" lIns="0" tIns="0" rIns="0" bIns="0" rtlCol="0" anchor="ctr"/>
          <a:lstStyle/>
          <a:p>
            <a:pPr indent="0" marL="0">
              <a:buNone/>
            </a:pPr>
            <a:r>
              <a:rPr lang="en-US" sz="1400" b="1" dirty="0">
                <a:solidFill>
                  <a:srgbClr val="10192B"/>
                </a:solidFill>
                <a:latin typeface="Calibri" pitchFamily="34" charset="0"/>
                <a:ea typeface="Calibri" pitchFamily="34" charset="-122"/>
                <a:cs typeface="Calibri" pitchFamily="34" charset="-120"/>
              </a:rPr>
              <a:t>We get the RCODE from the header with flags &amp; 0xF. A 3 means NXDOMAIN.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17827A"/>
                </a:solidFill>
                <a:latin typeface="Calibri" pitchFamily="34" charset="0"/>
                <a:ea typeface="Calibri" pitchFamily="34" charset="-122"/>
                <a:cs typeface="Calibri" pitchFamily="34" charset="-120"/>
              </a:rPr>
              <a:t>RFC 1035 §3.3.13</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3400" b="1" dirty="0">
                <a:solidFill>
                  <a:srgbClr val="10192B"/>
                </a:solidFill>
                <a:latin typeface="Cambria" pitchFamily="34" charset="0"/>
                <a:ea typeface="Cambria" pitchFamily="34" charset="-122"/>
                <a:cs typeface="Cambria" pitchFamily="34" charset="-120"/>
              </a:rPr>
              <a:t>Parsing the SOA record</a:t>
            </a:r>
            <a:endParaRPr lang="en-US" sz="3400" dirty="0"/>
          </a:p>
        </p:txBody>
      </p:sp>
      <p:sp>
        <p:nvSpPr>
          <p:cNvPr id="4" name="Text 2"/>
          <p:cNvSpPr/>
          <p:nvPr/>
        </p:nvSpPr>
        <p:spPr>
          <a:xfrm>
            <a:off x="640080" y="1737360"/>
            <a:ext cx="5486400" cy="320040"/>
          </a:xfrm>
          <a:prstGeom prst="rect">
            <a:avLst/>
          </a:prstGeom>
          <a:noFill/>
          <a:ln/>
        </p:spPr>
        <p:txBody>
          <a:bodyPr wrap="square" lIns="0" tIns="0" rIns="0" bIns="0" rtlCol="0" anchor="ctr"/>
          <a:lstStyle/>
          <a:p>
            <a:pPr indent="0" marL="0">
              <a:buNone/>
            </a:pPr>
            <a:r>
              <a:rPr lang="en-US" sz="1500" b="1" dirty="0">
                <a:solidFill>
                  <a:srgbClr val="2C3E54"/>
                </a:solidFill>
                <a:latin typeface="Calibri" pitchFamily="34" charset="0"/>
                <a:ea typeface="Calibri" pitchFamily="34" charset="-122"/>
                <a:cs typeface="Calibri" pitchFamily="34" charset="-120"/>
              </a:rPr>
              <a:t>SOA rdata layout</a:t>
            </a:r>
            <a:endParaRPr lang="en-US" sz="1500" dirty="0"/>
          </a:p>
        </p:txBody>
      </p:sp>
      <p:sp>
        <p:nvSpPr>
          <p:cNvPr id="5" name="Shape 3"/>
          <p:cNvSpPr/>
          <p:nvPr/>
        </p:nvSpPr>
        <p:spPr>
          <a:xfrm>
            <a:off x="640080" y="2148840"/>
            <a:ext cx="1691640" cy="777240"/>
          </a:xfrm>
          <a:prstGeom prst="rect">
            <a:avLst/>
          </a:prstGeom>
          <a:solidFill>
            <a:srgbClr val="C1462E"/>
          </a:solidFill>
          <a:ln w="19050">
            <a:solidFill>
              <a:srgbClr val="FFFFFF"/>
            </a:solidFill>
            <a:prstDash val="solid"/>
          </a:ln>
        </p:spPr>
      </p:sp>
      <p:sp>
        <p:nvSpPr>
          <p:cNvPr id="6" name="Text 4"/>
          <p:cNvSpPr/>
          <p:nvPr/>
        </p:nvSpPr>
        <p:spPr>
          <a:xfrm>
            <a:off x="640080" y="2148840"/>
            <a:ext cx="1691640"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MNAME</a:t>
            </a:r>
            <a:endParaRPr lang="en-US" sz="1150" dirty="0"/>
          </a:p>
        </p:txBody>
      </p:sp>
      <p:sp>
        <p:nvSpPr>
          <p:cNvPr id="7" name="Shape 5"/>
          <p:cNvSpPr/>
          <p:nvPr/>
        </p:nvSpPr>
        <p:spPr>
          <a:xfrm>
            <a:off x="2331720" y="2148840"/>
            <a:ext cx="1691640" cy="777240"/>
          </a:xfrm>
          <a:prstGeom prst="rect">
            <a:avLst/>
          </a:prstGeom>
          <a:solidFill>
            <a:srgbClr val="C1462E"/>
          </a:solidFill>
          <a:ln w="19050">
            <a:solidFill>
              <a:srgbClr val="FFFFFF"/>
            </a:solidFill>
            <a:prstDash val="solid"/>
          </a:ln>
        </p:spPr>
      </p:sp>
      <p:sp>
        <p:nvSpPr>
          <p:cNvPr id="8" name="Text 6"/>
          <p:cNvSpPr/>
          <p:nvPr/>
        </p:nvSpPr>
        <p:spPr>
          <a:xfrm>
            <a:off x="2331720" y="2148840"/>
            <a:ext cx="1691640"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RNAME</a:t>
            </a:r>
            <a:endParaRPr lang="en-US" sz="1150" dirty="0"/>
          </a:p>
        </p:txBody>
      </p:sp>
      <p:sp>
        <p:nvSpPr>
          <p:cNvPr id="9" name="Shape 7"/>
          <p:cNvSpPr/>
          <p:nvPr/>
        </p:nvSpPr>
        <p:spPr>
          <a:xfrm>
            <a:off x="4023360" y="2148840"/>
            <a:ext cx="1371600" cy="777240"/>
          </a:xfrm>
          <a:prstGeom prst="rect">
            <a:avLst/>
          </a:prstGeom>
          <a:solidFill>
            <a:srgbClr val="2C3E54"/>
          </a:solidFill>
          <a:ln w="19050">
            <a:solidFill>
              <a:srgbClr val="FFFFFF"/>
            </a:solidFill>
            <a:prstDash val="solid"/>
          </a:ln>
        </p:spPr>
      </p:sp>
      <p:sp>
        <p:nvSpPr>
          <p:cNvPr id="10" name="Text 8"/>
          <p:cNvSpPr/>
          <p:nvPr/>
        </p:nvSpPr>
        <p:spPr>
          <a:xfrm>
            <a:off x="4023360" y="2148840"/>
            <a:ext cx="1371600"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SERIAL</a:t>
            </a:r>
            <a:endParaRPr lang="en-US" sz="1150" dirty="0"/>
          </a:p>
        </p:txBody>
      </p:sp>
      <p:sp>
        <p:nvSpPr>
          <p:cNvPr id="11" name="Shape 9"/>
          <p:cNvSpPr/>
          <p:nvPr/>
        </p:nvSpPr>
        <p:spPr>
          <a:xfrm>
            <a:off x="5394960" y="2148840"/>
            <a:ext cx="1371600" cy="777240"/>
          </a:xfrm>
          <a:prstGeom prst="rect">
            <a:avLst/>
          </a:prstGeom>
          <a:solidFill>
            <a:srgbClr val="2C3E54"/>
          </a:solidFill>
          <a:ln w="19050">
            <a:solidFill>
              <a:srgbClr val="FFFFFF"/>
            </a:solidFill>
            <a:prstDash val="solid"/>
          </a:ln>
        </p:spPr>
      </p:sp>
      <p:sp>
        <p:nvSpPr>
          <p:cNvPr id="12" name="Text 10"/>
          <p:cNvSpPr/>
          <p:nvPr/>
        </p:nvSpPr>
        <p:spPr>
          <a:xfrm>
            <a:off x="5394960" y="2148840"/>
            <a:ext cx="1371600"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REFRESH</a:t>
            </a:r>
            <a:endParaRPr lang="en-US" sz="1150" dirty="0"/>
          </a:p>
        </p:txBody>
      </p:sp>
      <p:sp>
        <p:nvSpPr>
          <p:cNvPr id="13" name="Shape 11"/>
          <p:cNvSpPr/>
          <p:nvPr/>
        </p:nvSpPr>
        <p:spPr>
          <a:xfrm>
            <a:off x="6766560" y="2148840"/>
            <a:ext cx="1371600" cy="777240"/>
          </a:xfrm>
          <a:prstGeom prst="rect">
            <a:avLst/>
          </a:prstGeom>
          <a:solidFill>
            <a:srgbClr val="2C3E54"/>
          </a:solidFill>
          <a:ln w="19050">
            <a:solidFill>
              <a:srgbClr val="FFFFFF"/>
            </a:solidFill>
            <a:prstDash val="solid"/>
          </a:ln>
        </p:spPr>
      </p:sp>
      <p:sp>
        <p:nvSpPr>
          <p:cNvPr id="14" name="Text 12"/>
          <p:cNvSpPr/>
          <p:nvPr/>
        </p:nvSpPr>
        <p:spPr>
          <a:xfrm>
            <a:off x="6766560" y="2148840"/>
            <a:ext cx="1371600"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RETRY</a:t>
            </a:r>
            <a:endParaRPr lang="en-US" sz="1150" dirty="0"/>
          </a:p>
        </p:txBody>
      </p:sp>
      <p:sp>
        <p:nvSpPr>
          <p:cNvPr id="15" name="Shape 13"/>
          <p:cNvSpPr/>
          <p:nvPr/>
        </p:nvSpPr>
        <p:spPr>
          <a:xfrm>
            <a:off x="8138160" y="2148840"/>
            <a:ext cx="1371600" cy="777240"/>
          </a:xfrm>
          <a:prstGeom prst="rect">
            <a:avLst/>
          </a:prstGeom>
          <a:solidFill>
            <a:srgbClr val="2C3E54"/>
          </a:solidFill>
          <a:ln w="19050">
            <a:solidFill>
              <a:srgbClr val="FFFFFF"/>
            </a:solidFill>
            <a:prstDash val="solid"/>
          </a:ln>
        </p:spPr>
      </p:sp>
      <p:sp>
        <p:nvSpPr>
          <p:cNvPr id="16" name="Text 14"/>
          <p:cNvSpPr/>
          <p:nvPr/>
        </p:nvSpPr>
        <p:spPr>
          <a:xfrm>
            <a:off x="8138160" y="2148840"/>
            <a:ext cx="1371600"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EXPIRE</a:t>
            </a:r>
            <a:endParaRPr lang="en-US" sz="1150" dirty="0"/>
          </a:p>
        </p:txBody>
      </p:sp>
      <p:sp>
        <p:nvSpPr>
          <p:cNvPr id="17" name="Shape 15"/>
          <p:cNvSpPr/>
          <p:nvPr/>
        </p:nvSpPr>
        <p:spPr>
          <a:xfrm>
            <a:off x="9509760" y="2148840"/>
            <a:ext cx="1371600" cy="777240"/>
          </a:xfrm>
          <a:prstGeom prst="rect">
            <a:avLst/>
          </a:prstGeom>
          <a:solidFill>
            <a:srgbClr val="17827A"/>
          </a:solidFill>
          <a:ln w="19050">
            <a:solidFill>
              <a:srgbClr val="FFFFFF"/>
            </a:solidFill>
            <a:prstDash val="solid"/>
          </a:ln>
        </p:spPr>
      </p:sp>
      <p:sp>
        <p:nvSpPr>
          <p:cNvPr id="18" name="Text 16"/>
          <p:cNvSpPr/>
          <p:nvPr/>
        </p:nvSpPr>
        <p:spPr>
          <a:xfrm>
            <a:off x="9509760" y="2148840"/>
            <a:ext cx="1371600"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MINIMUM</a:t>
            </a:r>
            <a:endParaRPr lang="en-US" sz="1150" dirty="0"/>
          </a:p>
        </p:txBody>
      </p:sp>
      <p:sp>
        <p:nvSpPr>
          <p:cNvPr id="19" name="Text 17"/>
          <p:cNvSpPr/>
          <p:nvPr/>
        </p:nvSpPr>
        <p:spPr>
          <a:xfrm>
            <a:off x="640080" y="3017520"/>
            <a:ext cx="3383280" cy="274320"/>
          </a:xfrm>
          <a:prstGeom prst="rect">
            <a:avLst/>
          </a:prstGeom>
          <a:noFill/>
          <a:ln/>
        </p:spPr>
        <p:txBody>
          <a:bodyPr wrap="square" lIns="0" tIns="0" rIns="0" bIns="0" rtlCol="0" anchor="ctr"/>
          <a:lstStyle/>
          <a:p>
            <a:pPr algn="ctr" indent="0" marL="0">
              <a:buNone/>
            </a:pPr>
            <a:r>
              <a:rPr lang="en-US" sz="1100" i="1" dirty="0">
                <a:solidFill>
                  <a:srgbClr val="C1462E"/>
                </a:solidFill>
                <a:latin typeface="Calibri" pitchFamily="34" charset="0"/>
                <a:ea typeface="Calibri" pitchFamily="34" charset="-122"/>
                <a:cs typeface="Calibri" pitchFamily="34" charset="-120"/>
              </a:rPr>
              <a:t>variable length, can use compression pointers</a:t>
            </a:r>
            <a:endParaRPr lang="en-US" sz="1100" dirty="0"/>
          </a:p>
        </p:txBody>
      </p:sp>
      <p:sp>
        <p:nvSpPr>
          <p:cNvPr id="20" name="Text 18"/>
          <p:cNvSpPr/>
          <p:nvPr/>
        </p:nvSpPr>
        <p:spPr>
          <a:xfrm>
            <a:off x="4023360" y="3017520"/>
            <a:ext cx="6858000" cy="274320"/>
          </a:xfrm>
          <a:prstGeom prst="rect">
            <a:avLst/>
          </a:prstGeom>
          <a:noFill/>
          <a:ln/>
        </p:spPr>
        <p:txBody>
          <a:bodyPr wrap="square" lIns="0" tIns="0" rIns="0" bIns="0" rtlCol="0" anchor="ctr"/>
          <a:lstStyle/>
          <a:p>
            <a:pPr algn="ctr" indent="0" marL="0">
              <a:buNone/>
            </a:pPr>
            <a:r>
              <a:rPr lang="en-US" sz="1100" i="1" dirty="0">
                <a:solidFill>
                  <a:srgbClr val="6B7A8C"/>
                </a:solidFill>
                <a:latin typeface="Calibri" pitchFamily="34" charset="0"/>
                <a:ea typeface="Calibri" pitchFamily="34" charset="-122"/>
                <a:cs typeface="Calibri" pitchFamily="34" charset="-120"/>
              </a:rPr>
              <a:t>five 32-bit fields</a:t>
            </a:r>
            <a:endParaRPr lang="en-US" sz="1100" dirty="0"/>
          </a:p>
        </p:txBody>
      </p:sp>
      <p:sp>
        <p:nvSpPr>
          <p:cNvPr id="21" name="Text 19"/>
          <p:cNvSpPr/>
          <p:nvPr/>
        </p:nvSpPr>
        <p:spPr>
          <a:xfrm>
            <a:off x="640080" y="3520440"/>
            <a:ext cx="5669280" cy="1005840"/>
          </a:xfrm>
          <a:prstGeom prst="rect">
            <a:avLst/>
          </a:prstGeom>
          <a:noFill/>
          <a:ln/>
        </p:spPr>
        <p:txBody>
          <a:bodyPr wrap="square" lIns="0" tIns="0" rIns="0" bIns="0" rtlCol="0" anchor="t"/>
          <a:lstStyle/>
          <a:p>
            <a:pPr indent="0" marL="0">
              <a:buNone/>
            </a:pPr>
            <a:r>
              <a:rPr lang="en-US" sz="1500" dirty="0">
                <a:solidFill>
                  <a:srgbClr val="10192B"/>
                </a:solidFill>
                <a:latin typeface="Calibri" pitchFamily="34" charset="0"/>
                <a:ea typeface="Calibri" pitchFamily="34" charset="-122"/>
                <a:cs typeface="Calibri" pitchFamily="34" charset="-120"/>
              </a:rPr>
              <a:t>MNAME and RNAME are variable length, so there is no fixed offset to jump to. We decode both of them to find where they end, then unpack the numbers. MINIMUM is the last one.</a:t>
            </a:r>
            <a:endParaRPr lang="en-US" sz="1500" dirty="0"/>
          </a:p>
        </p:txBody>
      </p:sp>
      <p:sp>
        <p:nvSpPr>
          <p:cNvPr id="22" name="Shape 20"/>
          <p:cNvSpPr/>
          <p:nvPr/>
        </p:nvSpPr>
        <p:spPr>
          <a:xfrm>
            <a:off x="6583680" y="3520440"/>
            <a:ext cx="4937760" cy="1417320"/>
          </a:xfrm>
          <a:prstGeom prst="roundRect">
            <a:avLst>
              <a:gd name="adj" fmla="val 3871"/>
            </a:avLst>
          </a:prstGeom>
          <a:solidFill>
            <a:srgbClr val="10192B"/>
          </a:solidFill>
          <a:ln w="12700">
            <a:solidFill>
              <a:srgbClr val="10192B"/>
            </a:solidFill>
            <a:prstDash val="solid"/>
          </a:ln>
        </p:spPr>
      </p:sp>
      <p:sp>
        <p:nvSpPr>
          <p:cNvPr id="23" name="Text 21"/>
          <p:cNvSpPr/>
          <p:nvPr/>
        </p:nvSpPr>
        <p:spPr>
          <a:xfrm>
            <a:off x="6748272" y="3630168"/>
            <a:ext cx="4608576" cy="1197864"/>
          </a:xfrm>
          <a:prstGeom prst="rect">
            <a:avLst/>
          </a:prstGeom>
          <a:noFill/>
          <a:ln/>
        </p:spPr>
        <p:txBody>
          <a:bodyPr wrap="square" lIns="0" tIns="0" rIns="0" bIns="0" rtlCol="0" anchor="t"/>
          <a:lstStyle/>
          <a:p>
            <a:pPr indent="0" marL="0">
              <a:lnSpc>
                <a:spcPts val="1553"/>
              </a:lnSpc>
              <a:buNone/>
            </a:pPr>
            <a:r>
              <a:rPr lang="en-US" sz="1150" dirty="0">
                <a:solidFill>
                  <a:srgbClr val="D6E2EE"/>
                </a:solidFill>
                <a:latin typeface="Courier New" pitchFamily="34" charset="0"/>
                <a:ea typeface="Courier New" pitchFamily="34" charset="-122"/>
                <a:cs typeface="Courier New" pitchFamily="34" charset="-120"/>
              </a:rPr>
              <a:t>mname, offset = decode_name(msg, offset)</a:t>
            </a:r>
            <a:endParaRPr lang="en-US" sz="1150" dirty="0"/>
          </a:p>
          <a:p>
            <a:pPr indent="0" marL="0">
              <a:lnSpc>
                <a:spcPts val="1553"/>
              </a:lnSpc>
              <a:buNone/>
            </a:pPr>
            <a:r>
              <a:rPr lang="en-US" sz="1150" dirty="0">
                <a:solidFill>
                  <a:srgbClr val="D6E2EE"/>
                </a:solidFill>
                <a:latin typeface="Courier New" pitchFamily="34" charset="0"/>
                <a:ea typeface="Courier New" pitchFamily="34" charset="-122"/>
                <a:cs typeface="Courier New" pitchFamily="34" charset="-120"/>
              </a:rPr>
              <a:t>rname, offset = decode_name(msg, offset)</a:t>
            </a:r>
            <a:endParaRPr lang="en-US" sz="1150" dirty="0"/>
          </a:p>
          <a:p>
            <a:pPr indent="0" marL="0">
              <a:lnSpc>
                <a:spcPts val="1553"/>
              </a:lnSpc>
              <a:buNone/>
            </a:pPr>
            <a:r>
              <a:rPr lang="en-US" sz="1150" dirty="0">
                <a:solidFill>
                  <a:srgbClr val="D6E2EE"/>
                </a:solidFill>
                <a:latin typeface="Courier New" pitchFamily="34" charset="0"/>
                <a:ea typeface="Courier New" pitchFamily="34" charset="-122"/>
                <a:cs typeface="Courier New" pitchFamily="34" charset="-120"/>
              </a:rPr>
              <a:t>serial, refresh, retry, expire, minimum = \</a:t>
            </a:r>
            <a:endParaRPr lang="en-US" sz="1150" dirty="0"/>
          </a:p>
          <a:p>
            <a:pPr indent="0" marL="0">
              <a:lnSpc>
                <a:spcPts val="1553"/>
              </a:lnSpc>
              <a:buNone/>
            </a:pPr>
            <a:r>
              <a:rPr lang="en-US" sz="1150" dirty="0">
                <a:solidFill>
                  <a:srgbClr val="D6E2EE"/>
                </a:solidFill>
                <a:latin typeface="Courier New" pitchFamily="34" charset="0"/>
                <a:ea typeface="Courier New" pitchFamily="34" charset="-122"/>
                <a:cs typeface="Courier New" pitchFamily="34" charset="-120"/>
              </a:rPr>
              <a:t>    struct.unpack_from("!IIIII", msg, offset)</a:t>
            </a:r>
            <a:endParaRPr lang="en-US" sz="1150" dirty="0"/>
          </a:p>
        </p:txBody>
      </p:sp>
      <p:sp>
        <p:nvSpPr>
          <p:cNvPr id="24" name="Text 22"/>
          <p:cNvSpPr/>
          <p:nvPr/>
        </p:nvSpPr>
        <p:spPr>
          <a:xfrm>
            <a:off x="640080" y="5074920"/>
            <a:ext cx="10881360" cy="365760"/>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Self-test 8 builds an SOA by hand with MINIMUM set to 45 and checks we land on it. This is what would catch us being off by a few bytes.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92B"/>
        </a:solidFill>
      </p:bgPr>
    </p:bg>
    <p:spTree>
      <p:nvGrpSpPr>
        <p:cNvPr id="1" name=""/>
        <p:cNvGrpSpPr/>
        <p:nvPr/>
      </p:nvGrpSpPr>
      <p:grpSpPr>
        <a:xfrm>
          <a:off x="0" y="0"/>
          <a:ext cx="0" cy="0"/>
          <a:chOff x="0" y="0"/>
          <a:chExt cx="0" cy="0"/>
        </a:xfrm>
      </p:grpSpPr>
      <p:sp>
        <p:nvSpPr>
          <p:cNvPr id="2" name="Text 0"/>
          <p:cNvSpPr/>
          <p:nvPr/>
        </p:nvSpPr>
        <p:spPr>
          <a:xfrm>
            <a:off x="640080" y="685800"/>
            <a:ext cx="7315200" cy="274320"/>
          </a:xfrm>
          <a:prstGeom prst="rect">
            <a:avLst/>
          </a:prstGeom>
          <a:noFill/>
          <a:ln/>
        </p:spPr>
        <p:txBody>
          <a:bodyPr wrap="square" lIns="0" tIns="0" rIns="0" bIns="0" rtlCol="0" anchor="ctr"/>
          <a:lstStyle/>
          <a:p>
            <a:pPr indent="0" marL="0">
              <a:buNone/>
            </a:pPr>
            <a:r>
              <a:rPr lang="en-US" sz="1200" b="1" spc="300" kern="0" dirty="0">
                <a:solidFill>
                  <a:srgbClr val="17827A"/>
                </a:solidFill>
                <a:latin typeface="Calibri" pitchFamily="34" charset="0"/>
                <a:ea typeface="Calibri" pitchFamily="34" charset="-122"/>
                <a:cs typeface="Calibri" pitchFamily="34" charset="-120"/>
              </a:rPr>
              <a:t>EXTENSION 3</a:t>
            </a:r>
            <a:endParaRPr lang="en-US" sz="1200" dirty="0"/>
          </a:p>
        </p:txBody>
      </p:sp>
      <p:sp>
        <p:nvSpPr>
          <p:cNvPr id="3" name="Text 1"/>
          <p:cNvSpPr/>
          <p:nvPr/>
        </p:nvSpPr>
        <p:spPr>
          <a:xfrm>
            <a:off x="640080" y="1024128"/>
            <a:ext cx="108813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 bug we ran into with sjsu.edu</a:t>
            </a:r>
            <a:endParaRPr lang="en-US" sz="3400" dirty="0"/>
          </a:p>
        </p:txBody>
      </p:sp>
      <p:sp>
        <p:nvSpPr>
          <p:cNvPr id="4" name="Shape 2"/>
          <p:cNvSpPr/>
          <p:nvPr/>
        </p:nvSpPr>
        <p:spPr>
          <a:xfrm>
            <a:off x="640080" y="2011680"/>
            <a:ext cx="5943600" cy="2194560"/>
          </a:xfrm>
          <a:prstGeom prst="roundRect">
            <a:avLst>
              <a:gd name="adj" fmla="val 2500"/>
            </a:avLst>
          </a:prstGeom>
          <a:solidFill>
            <a:srgbClr val="10192B"/>
          </a:solidFill>
          <a:ln w="12700">
            <a:solidFill>
              <a:srgbClr val="10192B"/>
            </a:solidFill>
            <a:prstDash val="solid"/>
          </a:ln>
        </p:spPr>
      </p:sp>
      <p:sp>
        <p:nvSpPr>
          <p:cNvPr id="5" name="Text 3"/>
          <p:cNvSpPr/>
          <p:nvPr/>
        </p:nvSpPr>
        <p:spPr>
          <a:xfrm>
            <a:off x="804672" y="2121408"/>
            <a:ext cx="5614416" cy="1975104"/>
          </a:xfrm>
          <a:prstGeom prst="rect">
            <a:avLst/>
          </a:prstGeom>
          <a:noFill/>
          <a:ln/>
        </p:spPr>
        <p:txBody>
          <a:bodyPr wrap="square" lIns="0" tIns="0" rIns="0" bIns="0" rtlCol="0" anchor="t"/>
          <a:lstStyle/>
          <a:p>
            <a:pPr indent="0" marL="0">
              <a:lnSpc>
                <a:spcPts val="1553"/>
              </a:lnSpc>
              <a:buNone/>
            </a:pPr>
            <a:r>
              <a:rPr lang="en-US" sz="1150" dirty="0">
                <a:solidFill>
                  <a:srgbClr val="C8D6E5"/>
                </a:solidFill>
                <a:latin typeface="Courier New" pitchFamily="34" charset="0"/>
                <a:ea typeface="Courier New" pitchFamily="34" charset="-122"/>
                <a:cs typeface="Courier New" pitchFamily="34" charset="-120"/>
              </a:rPr>
              <a:t>$ python resolver.py sjsu.edu --trace</a:t>
            </a:r>
            <a:endParaRPr lang="en-US" sz="1150" dirty="0"/>
          </a:p>
          <a:p>
            <a:pPr indent="0" marL="0">
              <a:lnSpc>
                <a:spcPts val="1553"/>
              </a:lnSpc>
              <a:buNone/>
            </a:pPr>
            <a:r>
              <a:rPr lang="en-US" sz="1150" dirty="0">
                <a:solidFill>
                  <a:srgbClr val="C8D6E5"/>
                </a:solidFill>
                <a:latin typeface="Courier New" pitchFamily="34" charset="0"/>
                <a:ea typeface="Courier New" pitchFamily="34" charset="-122"/>
                <a:cs typeface="Courier New" pitchFamily="34" charset="-120"/>
              </a:rPr>
              <a:t>  querying 198.41.0.4 for sjsu.edu</a:t>
            </a:r>
            <a:endParaRPr lang="en-US" sz="1150" dirty="0"/>
          </a:p>
          <a:p>
            <a:pPr indent="0" marL="0">
              <a:lnSpc>
                <a:spcPts val="1553"/>
              </a:lnSpc>
              <a:buNone/>
            </a:pPr>
            <a:r>
              <a:rPr lang="en-US" sz="1150" dirty="0">
                <a:solidFill>
                  <a:srgbClr val="C8D6E5"/>
                </a:solidFill>
                <a:latin typeface="Courier New" pitchFamily="34" charset="0"/>
                <a:ea typeface="Courier New" pitchFamily="34" charset="-122"/>
                <a:cs typeface="Courier New" pitchFamily="34" charset="-120"/>
              </a:rPr>
              <a:t>  querying 192.31.80.30 for sjsu.edu</a:t>
            </a:r>
            <a:endParaRPr lang="en-US" sz="1150" dirty="0"/>
          </a:p>
          <a:p>
            <a:pPr indent="0" marL="0">
              <a:lnSpc>
                <a:spcPts val="1553"/>
              </a:lnSpc>
              <a:buNone/>
            </a:pPr>
            <a:r>
              <a:rPr lang="en-US" sz="1150" dirty="0">
                <a:solidFill>
                  <a:srgbClr val="C8D6E5"/>
                </a:solidFill>
                <a:latin typeface="Courier New" pitchFamily="34" charset="0"/>
                <a:ea typeface="Courier New" pitchFamily="34" charset="-122"/>
                <a:cs typeface="Courier New" pitchFamily="34" charset="-120"/>
              </a:rPr>
              <a:t>  querying 128.114.100.100 for sjsu.edu</a:t>
            </a:r>
            <a:endParaRPr lang="en-US" sz="1150" dirty="0"/>
          </a:p>
          <a:p>
            <a:pPr indent="0" marL="0">
              <a:lnSpc>
                <a:spcPts val="1553"/>
              </a:lnSpc>
              <a:buNone/>
            </a:pPr>
            <a:r>
              <a:rPr lang="en-US" sz="1150" dirty="0">
                <a:solidFill>
                  <a:srgbClr val="C8D6E5"/>
                </a:solidFill>
                <a:latin typeface="Courier New" pitchFamily="34" charset="0"/>
                <a:ea typeface="Courier New" pitchFamily="34" charset="-122"/>
                <a:cs typeface="Courier New" pitchFamily="34" charset="-120"/>
              </a:rPr>
              <a:t>error: could not resolve sjsu.edu</a:t>
            </a:r>
            <a:endParaRPr lang="en-US" sz="1150" dirty="0"/>
          </a:p>
        </p:txBody>
      </p:sp>
      <p:sp>
        <p:nvSpPr>
          <p:cNvPr id="6" name="Shape 4"/>
          <p:cNvSpPr/>
          <p:nvPr/>
        </p:nvSpPr>
        <p:spPr>
          <a:xfrm>
            <a:off x="640080" y="2011680"/>
            <a:ext cx="5943600" cy="2194560"/>
          </a:xfrm>
          <a:prstGeom prst="roundRect">
            <a:avLst>
              <a:gd name="adj" fmla="val 2500"/>
            </a:avLst>
          </a:prstGeom>
          <a:solidFill>
            <a:srgbClr val="10192B">
              <a:alpha val="0"/>
            </a:srgbClr>
          </a:solidFill>
          <a:ln w="19050">
            <a:solidFill>
              <a:srgbClr val="C1462E"/>
            </a:solidFill>
            <a:prstDash val="solid"/>
          </a:ln>
        </p:spPr>
      </p:sp>
      <p:sp>
        <p:nvSpPr>
          <p:cNvPr id="7" name="Shape 5"/>
          <p:cNvSpPr/>
          <p:nvPr/>
        </p:nvSpPr>
        <p:spPr>
          <a:xfrm>
            <a:off x="7040880" y="2084832"/>
            <a:ext cx="329184" cy="329184"/>
          </a:xfrm>
          <a:prstGeom prst="ellipse">
            <a:avLst/>
          </a:prstGeom>
          <a:solidFill>
            <a:srgbClr val="17827A"/>
          </a:solidFill>
          <a:ln w="12700">
            <a:solidFill>
              <a:srgbClr val="333333"/>
            </a:solidFill>
            <a:prstDash val="solid"/>
          </a:ln>
        </p:spPr>
      </p:sp>
      <p:sp>
        <p:nvSpPr>
          <p:cNvPr id="8" name="Text 6"/>
          <p:cNvSpPr/>
          <p:nvPr/>
        </p:nvSpPr>
        <p:spPr>
          <a:xfrm>
            <a:off x="7040880" y="2084832"/>
            <a:ext cx="329184" cy="329184"/>
          </a:xfrm>
          <a:prstGeom prst="rect">
            <a:avLst/>
          </a:prstGeom>
          <a:noFill/>
          <a:ln/>
        </p:spPr>
        <p:txBody>
          <a:bodyPr wrap="square" lIns="0" tIns="0" rIns="0" bIns="0" rtlCol="0" anchor="ctr"/>
          <a:lstStyle/>
          <a:p>
            <a:pPr algn="ctr" indent="0" marL="0">
              <a:buNone/>
            </a:pPr>
            <a:r>
              <a:rPr lang="en-US" sz="1200" b="1" dirty="0">
                <a:solidFill>
                  <a:srgbClr val="10192B"/>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7498080" y="2066544"/>
            <a:ext cx="4023360" cy="411480"/>
          </a:xfrm>
          <a:prstGeom prst="rect">
            <a:avLst/>
          </a:prstGeom>
          <a:noFill/>
          <a:ln/>
        </p:spPr>
        <p:txBody>
          <a:bodyPr wrap="square" lIns="0" tIns="0" rIns="0" bIns="0" rtlCol="0" anchor="ctr"/>
          <a:lstStyle/>
          <a:p>
            <a:pPr indent="0" marL="0">
              <a:buNone/>
            </a:pPr>
            <a:r>
              <a:rPr lang="en-US" sz="1350" dirty="0">
                <a:solidFill>
                  <a:srgbClr val="D6E2EE"/>
                </a:solidFill>
                <a:latin typeface="Calibri" pitchFamily="34" charset="0"/>
                <a:ea typeface="Calibri" pitchFamily="34" charset="-122"/>
                <a:cs typeface="Calibri" pitchFamily="34" charset="-120"/>
              </a:rPr>
              <a:t>The trace showed it reaching a server, then quitting</a:t>
            </a:r>
            <a:endParaRPr lang="en-US" sz="1350" dirty="0"/>
          </a:p>
        </p:txBody>
      </p:sp>
      <p:sp>
        <p:nvSpPr>
          <p:cNvPr id="10" name="Shape 8"/>
          <p:cNvSpPr/>
          <p:nvPr/>
        </p:nvSpPr>
        <p:spPr>
          <a:xfrm>
            <a:off x="7040880" y="2651760"/>
            <a:ext cx="329184" cy="329184"/>
          </a:xfrm>
          <a:prstGeom prst="ellipse">
            <a:avLst/>
          </a:prstGeom>
          <a:solidFill>
            <a:srgbClr val="17827A"/>
          </a:solidFill>
          <a:ln w="12700">
            <a:solidFill>
              <a:srgbClr val="333333"/>
            </a:solidFill>
            <a:prstDash val="solid"/>
          </a:ln>
        </p:spPr>
      </p:sp>
      <p:sp>
        <p:nvSpPr>
          <p:cNvPr id="11" name="Text 9"/>
          <p:cNvSpPr/>
          <p:nvPr/>
        </p:nvSpPr>
        <p:spPr>
          <a:xfrm>
            <a:off x="7040880" y="2651760"/>
            <a:ext cx="329184" cy="329184"/>
          </a:xfrm>
          <a:prstGeom prst="rect">
            <a:avLst/>
          </a:prstGeom>
          <a:noFill/>
          <a:ln/>
        </p:spPr>
        <p:txBody>
          <a:bodyPr wrap="square" lIns="0" tIns="0" rIns="0" bIns="0" rtlCol="0" anchor="ctr"/>
          <a:lstStyle/>
          <a:p>
            <a:pPr algn="ctr" indent="0" marL="0">
              <a:buNone/>
            </a:pPr>
            <a:r>
              <a:rPr lang="en-US" sz="1200" b="1" dirty="0">
                <a:solidFill>
                  <a:srgbClr val="10192B"/>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7498080" y="2633472"/>
            <a:ext cx="4023360" cy="411480"/>
          </a:xfrm>
          <a:prstGeom prst="rect">
            <a:avLst/>
          </a:prstGeom>
          <a:noFill/>
          <a:ln/>
        </p:spPr>
        <p:txBody>
          <a:bodyPr wrap="square" lIns="0" tIns="0" rIns="0" bIns="0" rtlCol="0" anchor="ctr"/>
          <a:lstStyle/>
          <a:p>
            <a:pPr indent="0" marL="0">
              <a:buNone/>
            </a:pPr>
            <a:r>
              <a:rPr lang="en-US" sz="1350" dirty="0">
                <a:solidFill>
                  <a:srgbClr val="D6E2EE"/>
                </a:solidFill>
                <a:latin typeface="Calibri" pitchFamily="34" charset="0"/>
                <a:ea typeface="Calibri" pitchFamily="34" charset="-122"/>
                <a:cs typeface="Calibri" pitchFamily="34" charset="-120"/>
              </a:rPr>
              <a:t>We dumped the raw packet and got rcode 2, SERVFAIL</a:t>
            </a:r>
            <a:endParaRPr lang="en-US" sz="1350" dirty="0"/>
          </a:p>
        </p:txBody>
      </p:sp>
      <p:sp>
        <p:nvSpPr>
          <p:cNvPr id="13" name="Shape 11"/>
          <p:cNvSpPr/>
          <p:nvPr/>
        </p:nvSpPr>
        <p:spPr>
          <a:xfrm>
            <a:off x="7040880" y="3218688"/>
            <a:ext cx="329184" cy="329184"/>
          </a:xfrm>
          <a:prstGeom prst="ellipse">
            <a:avLst/>
          </a:prstGeom>
          <a:solidFill>
            <a:srgbClr val="17827A"/>
          </a:solidFill>
          <a:ln w="12700">
            <a:solidFill>
              <a:srgbClr val="333333"/>
            </a:solidFill>
            <a:prstDash val="solid"/>
          </a:ln>
        </p:spPr>
      </p:sp>
      <p:sp>
        <p:nvSpPr>
          <p:cNvPr id="14" name="Text 12"/>
          <p:cNvSpPr/>
          <p:nvPr/>
        </p:nvSpPr>
        <p:spPr>
          <a:xfrm>
            <a:off x="7040880" y="3218688"/>
            <a:ext cx="329184" cy="329184"/>
          </a:xfrm>
          <a:prstGeom prst="rect">
            <a:avLst/>
          </a:prstGeom>
          <a:noFill/>
          <a:ln/>
        </p:spPr>
        <p:txBody>
          <a:bodyPr wrap="square" lIns="0" tIns="0" rIns="0" bIns="0" rtlCol="0" anchor="ctr"/>
          <a:lstStyle/>
          <a:p>
            <a:pPr algn="ctr" indent="0" marL="0">
              <a:buNone/>
            </a:pPr>
            <a:r>
              <a:rPr lang="en-US" sz="1200" b="1" dirty="0">
                <a:solidFill>
                  <a:srgbClr val="10192B"/>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7498080" y="3200400"/>
            <a:ext cx="4023360" cy="411480"/>
          </a:xfrm>
          <a:prstGeom prst="rect">
            <a:avLst/>
          </a:prstGeom>
          <a:noFill/>
          <a:ln/>
        </p:spPr>
        <p:txBody>
          <a:bodyPr wrap="square" lIns="0" tIns="0" rIns="0" bIns="0" rtlCol="0" anchor="ctr"/>
          <a:lstStyle/>
          <a:p>
            <a:pPr indent="0" marL="0">
              <a:buNone/>
            </a:pPr>
            <a:r>
              <a:rPr lang="en-US" sz="1350" dirty="0">
                <a:solidFill>
                  <a:srgbClr val="D6E2EE"/>
                </a:solidFill>
                <a:latin typeface="Calibri" pitchFamily="34" charset="0"/>
                <a:ea typeface="Calibri" pitchFamily="34" charset="-122"/>
                <a:cs typeface="Calibri" pitchFamily="34" charset="-120"/>
              </a:rPr>
              <a:t>Two of SJSU’s three nameservers will not answer us</a:t>
            </a:r>
            <a:endParaRPr lang="en-US" sz="1350" dirty="0"/>
          </a:p>
        </p:txBody>
      </p:sp>
      <p:sp>
        <p:nvSpPr>
          <p:cNvPr id="16" name="Shape 14"/>
          <p:cNvSpPr/>
          <p:nvPr/>
        </p:nvSpPr>
        <p:spPr>
          <a:xfrm>
            <a:off x="7040880" y="3785616"/>
            <a:ext cx="329184" cy="329184"/>
          </a:xfrm>
          <a:prstGeom prst="ellipse">
            <a:avLst/>
          </a:prstGeom>
          <a:solidFill>
            <a:srgbClr val="17827A"/>
          </a:solidFill>
          <a:ln w="12700">
            <a:solidFill>
              <a:srgbClr val="333333"/>
            </a:solidFill>
            <a:prstDash val="solid"/>
          </a:ln>
        </p:spPr>
      </p:sp>
      <p:sp>
        <p:nvSpPr>
          <p:cNvPr id="17" name="Text 15"/>
          <p:cNvSpPr/>
          <p:nvPr/>
        </p:nvSpPr>
        <p:spPr>
          <a:xfrm>
            <a:off x="7040880" y="3785616"/>
            <a:ext cx="329184" cy="329184"/>
          </a:xfrm>
          <a:prstGeom prst="rect">
            <a:avLst/>
          </a:prstGeom>
          <a:noFill/>
          <a:ln/>
        </p:spPr>
        <p:txBody>
          <a:bodyPr wrap="square" lIns="0" tIns="0" rIns="0" bIns="0" rtlCol="0" anchor="ctr"/>
          <a:lstStyle/>
          <a:p>
            <a:pPr algn="ctr" indent="0" marL="0">
              <a:buNone/>
            </a:pPr>
            <a:r>
              <a:rPr lang="en-US" sz="1200" b="1" dirty="0">
                <a:solidFill>
                  <a:srgbClr val="10192B"/>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7498080" y="3767328"/>
            <a:ext cx="4023360" cy="411480"/>
          </a:xfrm>
          <a:prstGeom prst="rect">
            <a:avLst/>
          </a:prstGeom>
          <a:noFill/>
          <a:ln/>
        </p:spPr>
        <p:txBody>
          <a:bodyPr wrap="square" lIns="0" tIns="0" rIns="0" bIns="0" rtlCol="0" anchor="ctr"/>
          <a:lstStyle/>
          <a:p>
            <a:pPr indent="0" marL="0">
              <a:buNone/>
            </a:pPr>
            <a:r>
              <a:rPr lang="en-US" sz="1350" dirty="0">
                <a:solidFill>
                  <a:srgbClr val="D6E2EE"/>
                </a:solidFill>
                <a:latin typeface="Calibri" pitchFamily="34" charset="0"/>
                <a:ea typeface="Calibri" pitchFamily="34" charset="-122"/>
                <a:cs typeface="Calibri" pitchFamily="34" charset="-120"/>
              </a:rPr>
              <a:t>We were taking the first glue record and giving up</a:t>
            </a:r>
            <a:endParaRPr lang="en-US" sz="1350" dirty="0"/>
          </a:p>
        </p:txBody>
      </p:sp>
      <p:sp>
        <p:nvSpPr>
          <p:cNvPr id="19" name="Text 17"/>
          <p:cNvSpPr/>
          <p:nvPr/>
        </p:nvSpPr>
        <p:spPr>
          <a:xfrm>
            <a:off x="640080" y="4617720"/>
            <a:ext cx="10881360" cy="365760"/>
          </a:xfrm>
          <a:prstGeom prst="rect">
            <a:avLst/>
          </a:prstGeom>
          <a:noFill/>
          <a:ln/>
        </p:spPr>
        <p:txBody>
          <a:bodyPr wrap="square" lIns="0" tIns="0" rIns="0" bIns="0" rtlCol="0" anchor="ctr"/>
          <a:lstStyle/>
          <a:p>
            <a:pPr indent="0" marL="0">
              <a:buNone/>
            </a:pPr>
            <a:r>
              <a:rPr lang="en-US" sz="1500" b="1" dirty="0">
                <a:solidFill>
                  <a:srgbClr val="17827A"/>
                </a:solidFill>
                <a:latin typeface="Calibri" pitchFamily="34" charset="0"/>
                <a:ea typeface="Calibri" pitchFamily="34" charset="-122"/>
                <a:cs typeface="Calibri" pitchFamily="34" charset="-120"/>
              </a:rPr>
              <a:t>RFC 1034 §5.3.3 says to keep a list of servers for the zone and work through it.</a:t>
            </a:r>
            <a:endParaRPr lang="en-US" sz="1500" dirty="0"/>
          </a:p>
        </p:txBody>
      </p:sp>
      <p:sp>
        <p:nvSpPr>
          <p:cNvPr id="20" name="Text 18"/>
          <p:cNvSpPr/>
          <p:nvPr/>
        </p:nvSpPr>
        <p:spPr>
          <a:xfrm>
            <a:off x="640080" y="5029200"/>
            <a:ext cx="10881360" cy="365760"/>
          </a:xfrm>
          <a:prstGeom prst="rect">
            <a:avLst/>
          </a:prstGeom>
          <a:noFill/>
          <a:ln/>
        </p:spPr>
        <p:txBody>
          <a:bodyPr wrap="square" lIns="0" tIns="0" rIns="0" bIns="0" rtlCol="0" anchor="ctr"/>
          <a:lstStyle/>
          <a:p>
            <a:pPr indent="0" marL="0">
              <a:buNone/>
            </a:pPr>
            <a:r>
              <a:rPr lang="en-US" sz="1400" dirty="0">
                <a:solidFill>
                  <a:srgbClr val="93A6BB"/>
                </a:solidFill>
                <a:latin typeface="Calibri" pitchFamily="34" charset="0"/>
                <a:ea typeface="Calibri" pitchFamily="34" charset="-122"/>
                <a:cs typeface="Calibri" pitchFamily="34" charset="-120"/>
              </a:rPr>
              <a:t>So now we keep all the glue records and move on when one times out or sends SERVFAIL or REFUSED.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17827A"/>
                </a:solidFill>
                <a:latin typeface="Calibri" pitchFamily="34" charset="0"/>
                <a:ea typeface="Calibri" pitchFamily="34" charset="-122"/>
                <a:cs typeface="Calibri" pitchFamily="34" charset="-120"/>
              </a:rPr>
              <a:t>EXTENSION 3  ·  RFC 1034 §5.3.3</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3400" b="1" dirty="0">
                <a:solidFill>
                  <a:srgbClr val="10192B"/>
                </a:solidFill>
                <a:latin typeface="Cambria" pitchFamily="34" charset="0"/>
                <a:ea typeface="Cambria" pitchFamily="34" charset="-122"/>
                <a:cs typeface="Cambria" pitchFamily="34" charset="-120"/>
              </a:rPr>
              <a:t>Same command after the fix</a:t>
            </a:r>
            <a:endParaRPr lang="en-US" sz="3400" dirty="0"/>
          </a:p>
        </p:txBody>
      </p:sp>
      <p:sp>
        <p:nvSpPr>
          <p:cNvPr id="4" name="Shape 2"/>
          <p:cNvSpPr/>
          <p:nvPr/>
        </p:nvSpPr>
        <p:spPr>
          <a:xfrm>
            <a:off x="640080" y="1828800"/>
            <a:ext cx="6766560" cy="2834640"/>
          </a:xfrm>
          <a:prstGeom prst="roundRect">
            <a:avLst>
              <a:gd name="adj" fmla="val 1935"/>
            </a:avLst>
          </a:prstGeom>
          <a:solidFill>
            <a:srgbClr val="10192B"/>
          </a:solidFill>
          <a:ln w="12700">
            <a:solidFill>
              <a:srgbClr val="10192B"/>
            </a:solidFill>
            <a:prstDash val="solid"/>
          </a:ln>
        </p:spPr>
      </p:sp>
      <p:sp>
        <p:nvSpPr>
          <p:cNvPr id="5" name="Text 3"/>
          <p:cNvSpPr/>
          <p:nvPr/>
        </p:nvSpPr>
        <p:spPr>
          <a:xfrm>
            <a:off x="804672" y="1938528"/>
            <a:ext cx="6437376" cy="2615184"/>
          </a:xfrm>
          <a:prstGeom prst="rect">
            <a:avLst/>
          </a:prstGeom>
          <a:noFill/>
          <a:ln/>
        </p:spPr>
        <p:txBody>
          <a:bodyPr wrap="square" lIns="0" tIns="0" rIns="0" bIns="0" rtlCol="0" anchor="t"/>
          <a:lstStyle/>
          <a:p>
            <a:pPr indent="0" marL="0">
              <a:lnSpc>
                <a:spcPts val="1620"/>
              </a:lnSpc>
              <a:buNone/>
            </a:pPr>
            <a:r>
              <a:rPr lang="en-US" sz="1200" dirty="0">
                <a:solidFill>
                  <a:srgbClr val="D6E2EE"/>
                </a:solidFill>
                <a:latin typeface="Courier New" pitchFamily="34" charset="0"/>
                <a:ea typeface="Courier New" pitchFamily="34" charset="-122"/>
                <a:cs typeface="Courier New" pitchFamily="34" charset="-120"/>
              </a:rPr>
              <a:t>$ python resolver.py sjsu.edu --trace</a:t>
            </a:r>
            <a:endParaRPr lang="en-US" sz="1200" dirty="0"/>
          </a:p>
          <a:p>
            <a:pPr indent="0" marL="0">
              <a:lnSpc>
                <a:spcPts val="1620"/>
              </a:lnSpc>
              <a:buNone/>
            </a:pPr>
            <a:r>
              <a:rPr lang="en-US" sz="1200" dirty="0">
                <a:solidFill>
                  <a:srgbClr val="D6E2EE"/>
                </a:solidFill>
                <a:latin typeface="Courier New" pitchFamily="34" charset="0"/>
                <a:ea typeface="Courier New" pitchFamily="34" charset="-122"/>
                <a:cs typeface="Courier New" pitchFamily="34" charset="-120"/>
              </a:rPr>
              <a:t>  querying 198.41.0.4 for sjsu.edu</a:t>
            </a:r>
            <a:endParaRPr lang="en-US" sz="1200" dirty="0"/>
          </a:p>
          <a:p>
            <a:pPr indent="0" marL="0">
              <a:lnSpc>
                <a:spcPts val="1620"/>
              </a:lnSpc>
              <a:buNone/>
            </a:pPr>
            <a:r>
              <a:rPr lang="en-US" sz="1200" dirty="0">
                <a:solidFill>
                  <a:srgbClr val="D6E2EE"/>
                </a:solidFill>
                <a:latin typeface="Courier New" pitchFamily="34" charset="0"/>
                <a:ea typeface="Courier New" pitchFamily="34" charset="-122"/>
                <a:cs typeface="Courier New" pitchFamily="34" charset="-120"/>
              </a:rPr>
              <a:t>  querying 192.31.80.30 for sjsu.edu</a:t>
            </a:r>
            <a:endParaRPr lang="en-US" sz="1200" dirty="0"/>
          </a:p>
          <a:p>
            <a:pPr indent="0" marL="0">
              <a:lnSpc>
                <a:spcPts val="1620"/>
              </a:lnSpc>
              <a:buNone/>
            </a:pPr>
            <a:r>
              <a:rPr lang="en-US" sz="1200" dirty="0">
                <a:solidFill>
                  <a:srgbClr val="D6E2EE"/>
                </a:solidFill>
                <a:latin typeface="Courier New" pitchFamily="34" charset="0"/>
                <a:ea typeface="Courier New" pitchFamily="34" charset="-122"/>
                <a:cs typeface="Courier New" pitchFamily="34" charset="-120"/>
              </a:rPr>
              <a:t>  querying 128.114.100.100 for sjsu.edu</a:t>
            </a:r>
            <a:endParaRPr lang="en-US" sz="1200" dirty="0"/>
          </a:p>
          <a:p>
            <a:pPr indent="0" marL="0">
              <a:lnSpc>
                <a:spcPts val="1620"/>
              </a:lnSpc>
              <a:buNone/>
            </a:pPr>
            <a:r>
              <a:rPr lang="en-US" sz="1200" dirty="0">
                <a:solidFill>
                  <a:srgbClr val="D6E2EE"/>
                </a:solidFill>
                <a:latin typeface="Courier New" pitchFamily="34" charset="0"/>
                <a:ea typeface="Courier New" pitchFamily="34" charset="-122"/>
                <a:cs typeface="Courier New" pitchFamily="34" charset="-120"/>
              </a:rPr>
              <a:t>    returned rcode 2, trying the next one</a:t>
            </a:r>
            <a:endParaRPr lang="en-US" sz="1200" dirty="0"/>
          </a:p>
          <a:p>
            <a:pPr indent="0" marL="0">
              <a:lnSpc>
                <a:spcPts val="1620"/>
              </a:lnSpc>
              <a:buNone/>
            </a:pPr>
            <a:r>
              <a:rPr lang="en-US" sz="1200" dirty="0">
                <a:solidFill>
                  <a:srgbClr val="D6E2EE"/>
                </a:solidFill>
                <a:latin typeface="Courier New" pitchFamily="34" charset="0"/>
                <a:ea typeface="Courier New" pitchFamily="34" charset="-122"/>
                <a:cs typeface="Courier New" pitchFamily="34" charset="-120"/>
              </a:rPr>
              <a:t>  querying 128.114.100.200 for sjsu.edu</a:t>
            </a:r>
            <a:endParaRPr lang="en-US" sz="1200" dirty="0"/>
          </a:p>
          <a:p>
            <a:pPr indent="0" marL="0">
              <a:lnSpc>
                <a:spcPts val="1620"/>
              </a:lnSpc>
              <a:buNone/>
            </a:pPr>
            <a:r>
              <a:rPr lang="en-US" sz="1200" dirty="0">
                <a:solidFill>
                  <a:srgbClr val="D6E2EE"/>
                </a:solidFill>
                <a:latin typeface="Courier New" pitchFamily="34" charset="0"/>
                <a:ea typeface="Courier New" pitchFamily="34" charset="-122"/>
                <a:cs typeface="Courier New" pitchFamily="34" charset="-120"/>
              </a:rPr>
              <a:t>    returned rcode 2, trying the next one</a:t>
            </a:r>
            <a:endParaRPr lang="en-US" sz="1200" dirty="0"/>
          </a:p>
          <a:p>
            <a:pPr indent="0" marL="0">
              <a:lnSpc>
                <a:spcPts val="1620"/>
              </a:lnSpc>
              <a:buNone/>
            </a:pPr>
            <a:r>
              <a:rPr lang="en-US" sz="1200" dirty="0">
                <a:solidFill>
                  <a:srgbClr val="D6E2EE"/>
                </a:solidFill>
                <a:latin typeface="Courier New" pitchFamily="34" charset="0"/>
                <a:ea typeface="Courier New" pitchFamily="34" charset="-122"/>
                <a:cs typeface="Courier New" pitchFamily="34" charset="-120"/>
              </a:rPr>
              <a:t>  querying 130.65.9.11 for sjsu.edu</a:t>
            </a:r>
            <a:endParaRPr lang="en-US" sz="1200" dirty="0"/>
          </a:p>
          <a:p>
            <a:pPr indent="0" marL="0">
              <a:lnSpc>
                <a:spcPts val="1620"/>
              </a:lnSpc>
              <a:buNone/>
            </a:pPr>
            <a:r>
              <a:rPr lang="en-US" sz="1200" dirty="0">
                <a:solidFill>
                  <a:srgbClr val="D6E2EE"/>
                </a:solidFill>
                <a:latin typeface="Courier New" pitchFamily="34" charset="0"/>
                <a:ea typeface="Courier New" pitchFamily="34" charset="-122"/>
                <a:cs typeface="Courier New" pitchFamily="34" charset="-120"/>
              </a:rPr>
              <a:t>130.65.218.11</a:t>
            </a:r>
            <a:endParaRPr lang="en-US" sz="1200" dirty="0"/>
          </a:p>
        </p:txBody>
      </p:sp>
      <p:sp>
        <p:nvSpPr>
          <p:cNvPr id="6" name="Shape 4"/>
          <p:cNvSpPr/>
          <p:nvPr/>
        </p:nvSpPr>
        <p:spPr>
          <a:xfrm>
            <a:off x="7772400" y="1828800"/>
            <a:ext cx="3749040" cy="1325880"/>
          </a:xfrm>
          <a:prstGeom prst="roundRect">
            <a:avLst>
              <a:gd name="adj" fmla="val 3448"/>
            </a:avLst>
          </a:prstGeom>
          <a:solidFill>
            <a:srgbClr val="EEF2F6"/>
          </a:solidFill>
          <a:ln w="12700">
            <a:solidFill>
              <a:srgbClr val="333333"/>
            </a:solidFill>
            <a:prstDash val="solid"/>
          </a:ln>
        </p:spPr>
      </p:sp>
      <p:sp>
        <p:nvSpPr>
          <p:cNvPr id="7" name="Text 5"/>
          <p:cNvSpPr/>
          <p:nvPr/>
        </p:nvSpPr>
        <p:spPr>
          <a:xfrm>
            <a:off x="7955280" y="2057400"/>
            <a:ext cx="3383280" cy="457200"/>
          </a:xfrm>
          <a:prstGeom prst="rect">
            <a:avLst/>
          </a:prstGeom>
          <a:noFill/>
          <a:ln/>
        </p:spPr>
        <p:txBody>
          <a:bodyPr wrap="square" lIns="0" tIns="0" rIns="0" bIns="0" rtlCol="0" anchor="ctr"/>
          <a:lstStyle/>
          <a:p>
            <a:pPr indent="0" marL="0">
              <a:buNone/>
            </a:pPr>
            <a:r>
              <a:rPr lang="en-US" sz="2200" b="1" dirty="0">
                <a:solidFill>
                  <a:srgbClr val="17827A"/>
                </a:solidFill>
                <a:latin typeface="Courier New" pitchFamily="34" charset="0"/>
                <a:ea typeface="Courier New" pitchFamily="34" charset="-122"/>
                <a:cs typeface="Courier New" pitchFamily="34" charset="-120"/>
              </a:rPr>
              <a:t>130.65.218.11</a:t>
            </a:r>
            <a:endParaRPr lang="en-US" sz="2200" dirty="0"/>
          </a:p>
        </p:txBody>
      </p:sp>
      <p:sp>
        <p:nvSpPr>
          <p:cNvPr id="8" name="Text 6"/>
          <p:cNvSpPr/>
          <p:nvPr/>
        </p:nvSpPr>
        <p:spPr>
          <a:xfrm>
            <a:off x="7955280" y="2560320"/>
            <a:ext cx="3383280" cy="365760"/>
          </a:xfrm>
          <a:prstGeom prst="rect">
            <a:avLst/>
          </a:prstGeom>
          <a:noFill/>
          <a:ln/>
        </p:spPr>
        <p:txBody>
          <a:bodyPr wrap="square" lIns="0" tIns="0" rIns="0" bIns="0" rtlCol="0" anchor="ctr"/>
          <a:lstStyle/>
          <a:p>
            <a:pPr indent="0" marL="0">
              <a:buNone/>
            </a:pPr>
            <a:r>
              <a:rPr lang="en-US" sz="1300" dirty="0">
                <a:solidFill>
                  <a:srgbClr val="2C3E54"/>
                </a:solidFill>
                <a:latin typeface="Calibri" pitchFamily="34" charset="0"/>
                <a:ea typeface="Calibri" pitchFamily="34" charset="-122"/>
                <a:cs typeface="Calibri" pitchFamily="34" charset="-120"/>
              </a:rPr>
              <a:t>Same as what nslookup gives.</a:t>
            </a:r>
            <a:endParaRPr lang="en-US" sz="1300" dirty="0"/>
          </a:p>
        </p:txBody>
      </p:sp>
      <p:sp>
        <p:nvSpPr>
          <p:cNvPr id="9" name="Text 7"/>
          <p:cNvSpPr/>
          <p:nvPr/>
        </p:nvSpPr>
        <p:spPr>
          <a:xfrm>
            <a:off x="7772400" y="3429000"/>
            <a:ext cx="3749040" cy="320040"/>
          </a:xfrm>
          <a:prstGeom prst="rect">
            <a:avLst/>
          </a:prstGeom>
          <a:noFill/>
          <a:ln/>
        </p:spPr>
        <p:txBody>
          <a:bodyPr wrap="square" lIns="0" tIns="0" rIns="0" bIns="0" rtlCol="0" anchor="ctr"/>
          <a:lstStyle/>
          <a:p>
            <a:pPr indent="0" marL="0">
              <a:buNone/>
            </a:pPr>
            <a:r>
              <a:rPr lang="en-US" sz="1500" b="1" dirty="0">
                <a:solidFill>
                  <a:srgbClr val="10192B"/>
                </a:solidFill>
                <a:latin typeface="Calibri" pitchFamily="34" charset="0"/>
                <a:ea typeface="Calibri" pitchFamily="34" charset="-122"/>
                <a:cs typeface="Calibri" pitchFamily="34" charset="-120"/>
              </a:rPr>
              <a:t>Three ways a server can fail</a:t>
            </a:r>
            <a:endParaRPr lang="en-US" sz="1500" dirty="0"/>
          </a:p>
        </p:txBody>
      </p:sp>
      <p:sp>
        <p:nvSpPr>
          <p:cNvPr id="10" name="Text 8"/>
          <p:cNvSpPr/>
          <p:nvPr/>
        </p:nvSpPr>
        <p:spPr>
          <a:xfrm>
            <a:off x="7772400" y="3794760"/>
            <a:ext cx="3749040" cy="10058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C3E54"/>
                </a:solidFill>
                <a:latin typeface="Calibri" pitchFamily="34" charset="0"/>
                <a:ea typeface="Calibri" pitchFamily="34" charset="-122"/>
                <a:cs typeface="Calibri" pitchFamily="34" charset="-120"/>
              </a:rPr>
              <a:t>it times out</a:t>
            </a:r>
            <a:endParaRPr lang="en-US" sz="1300" dirty="0"/>
          </a:p>
          <a:p>
            <a:pPr marL="342900" indent="-342900">
              <a:spcAft>
                <a:spcPts val="500"/>
              </a:spcAft>
              <a:buSzPct val="100000"/>
              <a:buChar char="•"/>
            </a:pPr>
            <a:r>
              <a:rPr lang="en-US" sz="1300" dirty="0">
                <a:solidFill>
                  <a:srgbClr val="2C3E54"/>
                </a:solidFill>
                <a:latin typeface="Calibri" pitchFamily="34" charset="0"/>
                <a:ea typeface="Calibri" pitchFamily="34" charset="-122"/>
                <a:cs typeface="Calibri" pitchFamily="34" charset="-120"/>
              </a:rPr>
              <a:t>the reply is malformed and throws</a:t>
            </a:r>
            <a:endParaRPr lang="en-US" sz="1300" dirty="0"/>
          </a:p>
          <a:p>
            <a:pPr marL="342900" indent="-342900">
              <a:spcAft>
                <a:spcPts val="500"/>
              </a:spcAft>
              <a:buSzPct val="100000"/>
              <a:buChar char="•"/>
            </a:pPr>
            <a:r>
              <a:rPr lang="en-US" sz="1300" dirty="0">
                <a:solidFill>
                  <a:srgbClr val="2C3E54"/>
                </a:solidFill>
                <a:latin typeface="Calibri" pitchFamily="34" charset="0"/>
                <a:ea typeface="Calibri" pitchFamily="34" charset="-122"/>
                <a:cs typeface="Calibri" pitchFamily="34" charset="-120"/>
              </a:rPr>
              <a:t>it sends back SERVFAIL or REFUSED</a:t>
            </a:r>
            <a:endParaRPr lang="en-US" sz="1300" dirty="0"/>
          </a:p>
        </p:txBody>
      </p:sp>
      <p:sp>
        <p:nvSpPr>
          <p:cNvPr id="11" name="Text 9"/>
          <p:cNvSpPr/>
          <p:nvPr/>
        </p:nvSpPr>
        <p:spPr>
          <a:xfrm>
            <a:off x="640080" y="5029200"/>
            <a:ext cx="10881360" cy="365760"/>
          </a:xfrm>
          <a:prstGeom prst="rect">
            <a:avLst/>
          </a:prstGeom>
          <a:noFill/>
          <a:ln/>
        </p:spPr>
        <p:txBody>
          <a:bodyPr wrap="square" lIns="0" tIns="0" rIns="0" bIns="0" rtlCol="0" anchor="ctr"/>
          <a:lstStyle/>
          <a:p>
            <a:pPr indent="0" marL="0">
              <a:buNone/>
            </a:pPr>
            <a:r>
              <a:rPr lang="en-US" sz="1400" b="1" dirty="0">
                <a:solidFill>
                  <a:srgbClr val="10192B"/>
                </a:solidFill>
                <a:latin typeface="Calibri" pitchFamily="34" charset="0"/>
                <a:ea typeface="Calibri" pitchFamily="34" charset="-122"/>
                <a:cs typeface="Calibri" pitchFamily="34" charset="-120"/>
              </a:rPr>
              <a:t>All three cases move us to the next server. We only give up once the list runs out.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17827A"/>
                </a:solidFill>
                <a:latin typeface="Calibri" pitchFamily="34" charset="0"/>
                <a:ea typeface="Calibri" pitchFamily="34" charset="-122"/>
                <a:cs typeface="Calibri" pitchFamily="34" charset="-120"/>
              </a:rPr>
              <a:t>THREE COMMANDS</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3400" b="1" dirty="0">
                <a:solidFill>
                  <a:srgbClr val="10192B"/>
                </a:solidFill>
                <a:latin typeface="Cambria" pitchFamily="34" charset="0"/>
                <a:ea typeface="Cambria" pitchFamily="34" charset="-122"/>
                <a:cs typeface="Cambria" pitchFamily="34" charset="-120"/>
              </a:rPr>
              <a:t>Demo</a:t>
            </a:r>
            <a:endParaRPr lang="en-US" sz="3400" dirty="0"/>
          </a:p>
        </p:txBody>
      </p:sp>
      <p:sp>
        <p:nvSpPr>
          <p:cNvPr id="4" name="Shape 2"/>
          <p:cNvSpPr/>
          <p:nvPr/>
        </p:nvSpPr>
        <p:spPr>
          <a:xfrm>
            <a:off x="640080" y="2039112"/>
            <a:ext cx="402336" cy="402336"/>
          </a:xfrm>
          <a:prstGeom prst="ellipse">
            <a:avLst/>
          </a:prstGeom>
          <a:solidFill>
            <a:srgbClr val="17827A"/>
          </a:solidFill>
          <a:ln w="12700">
            <a:solidFill>
              <a:srgbClr val="333333"/>
            </a:solidFill>
            <a:prstDash val="solid"/>
          </a:ln>
        </p:spPr>
      </p:sp>
      <p:sp>
        <p:nvSpPr>
          <p:cNvPr id="5" name="Text 3"/>
          <p:cNvSpPr/>
          <p:nvPr/>
        </p:nvSpPr>
        <p:spPr>
          <a:xfrm>
            <a:off x="640080" y="20391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234440" y="1856232"/>
            <a:ext cx="2926080" cy="320040"/>
          </a:xfrm>
          <a:prstGeom prst="rect">
            <a:avLst/>
          </a:prstGeom>
          <a:noFill/>
          <a:ln/>
        </p:spPr>
        <p:txBody>
          <a:bodyPr wrap="square" lIns="0" tIns="0" rIns="0" bIns="0" rtlCol="0" anchor="ctr"/>
          <a:lstStyle/>
          <a:p>
            <a:pPr indent="0" marL="0">
              <a:buNone/>
            </a:pPr>
            <a:r>
              <a:rPr lang="en-US" sz="1700" b="1" dirty="0">
                <a:solidFill>
                  <a:srgbClr val="10192B"/>
                </a:solidFill>
                <a:latin typeface="Calibri" pitchFamily="34" charset="0"/>
                <a:ea typeface="Calibri" pitchFamily="34" charset="-122"/>
                <a:cs typeface="Calibri" pitchFamily="34" charset="-120"/>
              </a:rPr>
              <a:t>CNAME</a:t>
            </a:r>
            <a:endParaRPr lang="en-US" sz="1700" dirty="0"/>
          </a:p>
        </p:txBody>
      </p:sp>
      <p:sp>
        <p:nvSpPr>
          <p:cNvPr id="7" name="Text 5"/>
          <p:cNvSpPr/>
          <p:nvPr/>
        </p:nvSpPr>
        <p:spPr>
          <a:xfrm>
            <a:off x="1234440" y="2221992"/>
            <a:ext cx="2926080" cy="548640"/>
          </a:xfrm>
          <a:prstGeom prst="rect">
            <a:avLst/>
          </a:prstGeom>
          <a:noFill/>
          <a:ln/>
        </p:spPr>
        <p:txBody>
          <a:bodyPr wrap="square" lIns="0" tIns="0" rIns="0" bIns="0" rtlCol="0" anchor="t"/>
          <a:lstStyle/>
          <a:p>
            <a:pPr indent="0" marL="0">
              <a:buNone/>
            </a:pPr>
            <a:r>
              <a:rPr lang="en-US" sz="1250" dirty="0">
                <a:solidFill>
                  <a:srgbClr val="6B7A8C"/>
                </a:solidFill>
                <a:latin typeface="Calibri" pitchFamily="34" charset="0"/>
                <a:ea typeface="Calibri" pitchFamily="34" charset="-122"/>
                <a:cs typeface="Calibri" pitchFamily="34" charset="-120"/>
              </a:rPr>
              <a:t>Trace shows the alias getting followed to github.com</a:t>
            </a:r>
            <a:endParaRPr lang="en-US" sz="1250" dirty="0"/>
          </a:p>
        </p:txBody>
      </p:sp>
      <p:sp>
        <p:nvSpPr>
          <p:cNvPr id="8" name="Shape 6"/>
          <p:cNvSpPr/>
          <p:nvPr/>
        </p:nvSpPr>
        <p:spPr>
          <a:xfrm>
            <a:off x="4434840" y="1947672"/>
            <a:ext cx="7086600" cy="640080"/>
          </a:xfrm>
          <a:prstGeom prst="roundRect">
            <a:avLst>
              <a:gd name="adj" fmla="val 8571"/>
            </a:avLst>
          </a:prstGeom>
          <a:solidFill>
            <a:srgbClr val="10192B"/>
          </a:solidFill>
          <a:ln w="12700">
            <a:solidFill>
              <a:srgbClr val="10192B"/>
            </a:solidFill>
            <a:prstDash val="solid"/>
          </a:ln>
        </p:spPr>
      </p:sp>
      <p:sp>
        <p:nvSpPr>
          <p:cNvPr id="9" name="Text 7"/>
          <p:cNvSpPr/>
          <p:nvPr/>
        </p:nvSpPr>
        <p:spPr>
          <a:xfrm>
            <a:off x="4599432" y="2057400"/>
            <a:ext cx="6757416" cy="420624"/>
          </a:xfrm>
          <a:prstGeom prst="rect">
            <a:avLst/>
          </a:prstGeom>
          <a:noFill/>
          <a:ln/>
        </p:spPr>
        <p:txBody>
          <a:bodyPr wrap="square" lIns="0" tIns="0" rIns="0" bIns="0" rtlCol="0" anchor="t"/>
          <a:lstStyle/>
          <a:p>
            <a:pPr indent="0" marL="0">
              <a:lnSpc>
                <a:spcPts val="1688"/>
              </a:lnSpc>
              <a:buNone/>
            </a:pPr>
            <a:r>
              <a:rPr lang="en-US" sz="1250" dirty="0">
                <a:solidFill>
                  <a:srgbClr val="D6E2EE"/>
                </a:solidFill>
                <a:latin typeface="Courier New" pitchFamily="34" charset="0"/>
                <a:ea typeface="Courier New" pitchFamily="34" charset="-122"/>
                <a:cs typeface="Courier New" pitchFamily="34" charset="-120"/>
              </a:rPr>
              <a:t>$ python resolver.py www.github.com --trace</a:t>
            </a:r>
            <a:endParaRPr lang="en-US" sz="1250" dirty="0"/>
          </a:p>
        </p:txBody>
      </p:sp>
      <p:sp>
        <p:nvSpPr>
          <p:cNvPr id="10" name="Shape 8"/>
          <p:cNvSpPr/>
          <p:nvPr/>
        </p:nvSpPr>
        <p:spPr>
          <a:xfrm>
            <a:off x="640080" y="3337560"/>
            <a:ext cx="402336" cy="402336"/>
          </a:xfrm>
          <a:prstGeom prst="ellipse">
            <a:avLst/>
          </a:prstGeom>
          <a:solidFill>
            <a:srgbClr val="17827A"/>
          </a:solidFill>
          <a:ln w="12700">
            <a:solidFill>
              <a:srgbClr val="333333"/>
            </a:solidFill>
            <a:prstDash val="solid"/>
          </a:ln>
        </p:spPr>
      </p:sp>
      <p:sp>
        <p:nvSpPr>
          <p:cNvPr id="11" name="Text 9"/>
          <p:cNvSpPr/>
          <p:nvPr/>
        </p:nvSpPr>
        <p:spPr>
          <a:xfrm>
            <a:off x="640080" y="33375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234440" y="3154680"/>
            <a:ext cx="2926080" cy="320040"/>
          </a:xfrm>
          <a:prstGeom prst="rect">
            <a:avLst/>
          </a:prstGeom>
          <a:noFill/>
          <a:ln/>
        </p:spPr>
        <p:txBody>
          <a:bodyPr wrap="square" lIns="0" tIns="0" rIns="0" bIns="0" rtlCol="0" anchor="ctr"/>
          <a:lstStyle/>
          <a:p>
            <a:pPr indent="0" marL="0">
              <a:buNone/>
            </a:pPr>
            <a:r>
              <a:rPr lang="en-US" sz="1700" b="1" dirty="0">
                <a:solidFill>
                  <a:srgbClr val="10192B"/>
                </a:solidFill>
                <a:latin typeface="Calibri" pitchFamily="34" charset="0"/>
                <a:ea typeface="Calibri" pitchFamily="34" charset="-122"/>
                <a:cs typeface="Calibri" pitchFamily="34" charset="-120"/>
              </a:rPr>
              <a:t>Negative caching</a:t>
            </a:r>
            <a:endParaRPr lang="en-US" sz="1700" dirty="0"/>
          </a:p>
        </p:txBody>
      </p:sp>
      <p:sp>
        <p:nvSpPr>
          <p:cNvPr id="13" name="Text 11"/>
          <p:cNvSpPr/>
          <p:nvPr/>
        </p:nvSpPr>
        <p:spPr>
          <a:xfrm>
            <a:off x="1234440" y="3520440"/>
            <a:ext cx="2926080" cy="548640"/>
          </a:xfrm>
          <a:prstGeom prst="rect">
            <a:avLst/>
          </a:prstGeom>
          <a:noFill/>
          <a:ln/>
        </p:spPr>
        <p:txBody>
          <a:bodyPr wrap="square" lIns="0" tIns="0" rIns="0" bIns="0" rtlCol="0" anchor="t"/>
          <a:lstStyle/>
          <a:p>
            <a:pPr indent="0" marL="0">
              <a:buNone/>
            </a:pPr>
            <a:r>
              <a:rPr lang="en-US" sz="1250" dirty="0">
                <a:solidFill>
                  <a:srgbClr val="6B7A8C"/>
                </a:solidFill>
                <a:latin typeface="Calibri" pitchFamily="34" charset="0"/>
                <a:ea typeface="Calibri" pitchFamily="34" charset="-122"/>
                <a:cs typeface="Calibri" pitchFamily="34" charset="-120"/>
              </a:rPr>
              <a:t>Second lookup sends 0 packets</a:t>
            </a:r>
            <a:endParaRPr lang="en-US" sz="1250" dirty="0"/>
          </a:p>
        </p:txBody>
      </p:sp>
      <p:sp>
        <p:nvSpPr>
          <p:cNvPr id="14" name="Shape 12"/>
          <p:cNvSpPr/>
          <p:nvPr/>
        </p:nvSpPr>
        <p:spPr>
          <a:xfrm>
            <a:off x="4434840" y="3246120"/>
            <a:ext cx="7086600" cy="640080"/>
          </a:xfrm>
          <a:prstGeom prst="roundRect">
            <a:avLst>
              <a:gd name="adj" fmla="val 8571"/>
            </a:avLst>
          </a:prstGeom>
          <a:solidFill>
            <a:srgbClr val="10192B"/>
          </a:solidFill>
          <a:ln w="12700">
            <a:solidFill>
              <a:srgbClr val="10192B"/>
            </a:solidFill>
            <a:prstDash val="solid"/>
          </a:ln>
        </p:spPr>
      </p:sp>
      <p:sp>
        <p:nvSpPr>
          <p:cNvPr id="15" name="Text 13"/>
          <p:cNvSpPr/>
          <p:nvPr/>
        </p:nvSpPr>
        <p:spPr>
          <a:xfrm>
            <a:off x="4599432" y="3355848"/>
            <a:ext cx="6757416" cy="420624"/>
          </a:xfrm>
          <a:prstGeom prst="rect">
            <a:avLst/>
          </a:prstGeom>
          <a:noFill/>
          <a:ln/>
        </p:spPr>
        <p:txBody>
          <a:bodyPr wrap="square" lIns="0" tIns="0" rIns="0" bIns="0" rtlCol="0" anchor="t"/>
          <a:lstStyle/>
          <a:p>
            <a:pPr indent="0" marL="0">
              <a:lnSpc>
                <a:spcPts val="1688"/>
              </a:lnSpc>
              <a:buNone/>
            </a:pPr>
            <a:r>
              <a:rPr lang="en-US" sz="1250" dirty="0">
                <a:solidFill>
                  <a:srgbClr val="D6E2EE"/>
                </a:solidFill>
                <a:latin typeface="Courier New" pitchFamily="34" charset="0"/>
                <a:ea typeface="Courier New" pitchFamily="34" charset="-122"/>
                <a:cs typeface="Courier New" pitchFamily="34" charset="-120"/>
              </a:rPr>
              <a:t>$ python resolver.py notarealdomain.com --repeat 2</a:t>
            </a:r>
            <a:endParaRPr lang="en-US" sz="1250" dirty="0"/>
          </a:p>
        </p:txBody>
      </p:sp>
      <p:sp>
        <p:nvSpPr>
          <p:cNvPr id="16" name="Shape 14"/>
          <p:cNvSpPr/>
          <p:nvPr/>
        </p:nvSpPr>
        <p:spPr>
          <a:xfrm>
            <a:off x="640080" y="4636008"/>
            <a:ext cx="402336" cy="402336"/>
          </a:xfrm>
          <a:prstGeom prst="ellipse">
            <a:avLst/>
          </a:prstGeom>
          <a:solidFill>
            <a:srgbClr val="17827A"/>
          </a:solidFill>
          <a:ln w="12700">
            <a:solidFill>
              <a:srgbClr val="333333"/>
            </a:solidFill>
            <a:prstDash val="solid"/>
          </a:ln>
        </p:spPr>
      </p:sp>
      <p:sp>
        <p:nvSpPr>
          <p:cNvPr id="17" name="Text 15"/>
          <p:cNvSpPr/>
          <p:nvPr/>
        </p:nvSpPr>
        <p:spPr>
          <a:xfrm>
            <a:off x="640080" y="46360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234440" y="4453128"/>
            <a:ext cx="2926080" cy="320040"/>
          </a:xfrm>
          <a:prstGeom prst="rect">
            <a:avLst/>
          </a:prstGeom>
          <a:noFill/>
          <a:ln/>
        </p:spPr>
        <p:txBody>
          <a:bodyPr wrap="square" lIns="0" tIns="0" rIns="0" bIns="0" rtlCol="0" anchor="ctr"/>
          <a:lstStyle/>
          <a:p>
            <a:pPr indent="0" marL="0">
              <a:buNone/>
            </a:pPr>
            <a:r>
              <a:rPr lang="en-US" sz="1700" b="1" dirty="0">
                <a:solidFill>
                  <a:srgbClr val="10192B"/>
                </a:solidFill>
                <a:latin typeface="Calibri" pitchFamily="34" charset="0"/>
                <a:ea typeface="Calibri" pitchFamily="34" charset="-122"/>
                <a:cs typeface="Calibri" pitchFamily="34" charset="-120"/>
              </a:rPr>
              <a:t>Nameserver failover</a:t>
            </a:r>
            <a:endParaRPr lang="en-US" sz="1700" dirty="0"/>
          </a:p>
        </p:txBody>
      </p:sp>
      <p:sp>
        <p:nvSpPr>
          <p:cNvPr id="19" name="Text 17"/>
          <p:cNvSpPr/>
          <p:nvPr/>
        </p:nvSpPr>
        <p:spPr>
          <a:xfrm>
            <a:off x="1234440" y="4818888"/>
            <a:ext cx="2926080" cy="548640"/>
          </a:xfrm>
          <a:prstGeom prst="rect">
            <a:avLst/>
          </a:prstGeom>
          <a:noFill/>
          <a:ln/>
        </p:spPr>
        <p:txBody>
          <a:bodyPr wrap="square" lIns="0" tIns="0" rIns="0" bIns="0" rtlCol="0" anchor="t"/>
          <a:lstStyle/>
          <a:p>
            <a:pPr indent="0" marL="0">
              <a:buNone/>
            </a:pPr>
            <a:r>
              <a:rPr lang="en-US" sz="1250" dirty="0">
                <a:solidFill>
                  <a:srgbClr val="6B7A8C"/>
                </a:solidFill>
                <a:latin typeface="Calibri" pitchFamily="34" charset="0"/>
                <a:ea typeface="Calibri" pitchFamily="34" charset="-122"/>
                <a:cs typeface="Calibri" pitchFamily="34" charset="-120"/>
              </a:rPr>
              <a:t>Two SERVFAILs, then the third one answers</a:t>
            </a:r>
            <a:endParaRPr lang="en-US" sz="1250" dirty="0"/>
          </a:p>
        </p:txBody>
      </p:sp>
      <p:sp>
        <p:nvSpPr>
          <p:cNvPr id="20" name="Shape 18"/>
          <p:cNvSpPr/>
          <p:nvPr/>
        </p:nvSpPr>
        <p:spPr>
          <a:xfrm>
            <a:off x="4434840" y="4544568"/>
            <a:ext cx="7086600" cy="640080"/>
          </a:xfrm>
          <a:prstGeom prst="roundRect">
            <a:avLst>
              <a:gd name="adj" fmla="val 8571"/>
            </a:avLst>
          </a:prstGeom>
          <a:solidFill>
            <a:srgbClr val="10192B"/>
          </a:solidFill>
          <a:ln w="12700">
            <a:solidFill>
              <a:srgbClr val="10192B"/>
            </a:solidFill>
            <a:prstDash val="solid"/>
          </a:ln>
        </p:spPr>
      </p:sp>
      <p:sp>
        <p:nvSpPr>
          <p:cNvPr id="21" name="Text 19"/>
          <p:cNvSpPr/>
          <p:nvPr/>
        </p:nvSpPr>
        <p:spPr>
          <a:xfrm>
            <a:off x="4599432" y="4654296"/>
            <a:ext cx="6757416" cy="420624"/>
          </a:xfrm>
          <a:prstGeom prst="rect">
            <a:avLst/>
          </a:prstGeom>
          <a:noFill/>
          <a:ln/>
        </p:spPr>
        <p:txBody>
          <a:bodyPr wrap="square" lIns="0" tIns="0" rIns="0" bIns="0" rtlCol="0" anchor="t"/>
          <a:lstStyle/>
          <a:p>
            <a:pPr indent="0" marL="0">
              <a:lnSpc>
                <a:spcPts val="1688"/>
              </a:lnSpc>
              <a:buNone/>
            </a:pPr>
            <a:r>
              <a:rPr lang="en-US" sz="1250" dirty="0">
                <a:solidFill>
                  <a:srgbClr val="D6E2EE"/>
                </a:solidFill>
                <a:latin typeface="Courier New" pitchFamily="34" charset="0"/>
                <a:ea typeface="Courier New" pitchFamily="34" charset="-122"/>
                <a:cs typeface="Courier New" pitchFamily="34" charset="-120"/>
              </a:rPr>
              <a:t>$ python resolver.py sjsu.edu --trace</a:t>
            </a:r>
            <a:endParaRPr lang="en-US" sz="1250" dirty="0"/>
          </a:p>
        </p:txBody>
      </p:sp>
      <p:sp>
        <p:nvSpPr>
          <p:cNvPr id="22" name="Text 20"/>
          <p:cNvSpPr/>
          <p:nvPr/>
        </p:nvSpPr>
        <p:spPr>
          <a:xfrm>
            <a:off x="640080" y="5760720"/>
            <a:ext cx="10881360" cy="320040"/>
          </a:xfrm>
          <a:prstGeom prst="rect">
            <a:avLst/>
          </a:prstGeom>
          <a:noFill/>
          <a:ln/>
        </p:spPr>
        <p:txBody>
          <a:bodyPr wrap="square" lIns="0" tIns="0" rIns="0" bIns="0" rtlCol="0" anchor="ctr"/>
          <a:lstStyle/>
          <a:p>
            <a:pPr indent="0" marL="0">
              <a:buNone/>
            </a:pPr>
            <a:r>
              <a:rPr lang="en-US" sz="1300" i="1" dirty="0">
                <a:solidFill>
                  <a:srgbClr val="6B7A8C"/>
                </a:solidFill>
                <a:latin typeface="Calibri" pitchFamily="34" charset="0"/>
                <a:ea typeface="Calibri" pitchFamily="34" charset="-122"/>
                <a:cs typeface="Calibri" pitchFamily="34" charset="-120"/>
              </a:rPr>
              <a:t>The output for all of these is in our README too.</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7315200" cy="274320"/>
          </a:xfrm>
          <a:prstGeom prst="rect">
            <a:avLst/>
          </a:prstGeom>
          <a:noFill/>
          <a:ln/>
        </p:spPr>
        <p:txBody>
          <a:bodyPr wrap="square" lIns="0" tIns="0" rIns="0" bIns="0" rtlCol="0" anchor="ctr"/>
          <a:lstStyle/>
          <a:p>
            <a:pPr indent="0" marL="0">
              <a:buNone/>
            </a:pPr>
            <a:r>
              <a:rPr lang="en-US" sz="1200" b="1" spc="200" kern="0" dirty="0">
                <a:solidFill>
                  <a:srgbClr val="17827A"/>
                </a:solidFill>
                <a:latin typeface="Calibri" pitchFamily="34" charset="0"/>
                <a:ea typeface="Calibri" pitchFamily="34" charset="-122"/>
                <a:cs typeface="Calibri" pitchFamily="34" charset="-120"/>
              </a:rPr>
              <a:t>HOW WE CHECKED</a:t>
            </a:r>
            <a:endParaRPr lang="en-US" sz="1200" dirty="0"/>
          </a:p>
        </p:txBody>
      </p:sp>
      <p:sp>
        <p:nvSpPr>
          <p:cNvPr id="3" name="Text 1"/>
          <p:cNvSpPr/>
          <p:nvPr/>
        </p:nvSpPr>
        <p:spPr>
          <a:xfrm>
            <a:off x="640080" y="676656"/>
            <a:ext cx="10881360" cy="685800"/>
          </a:xfrm>
          <a:prstGeom prst="rect">
            <a:avLst/>
          </a:prstGeom>
          <a:noFill/>
          <a:ln/>
        </p:spPr>
        <p:txBody>
          <a:bodyPr wrap="square" lIns="0" tIns="0" rIns="0" bIns="0" rtlCol="0" anchor="ctr"/>
          <a:lstStyle/>
          <a:p>
            <a:pPr indent="0" marL="0">
              <a:buNone/>
            </a:pPr>
            <a:r>
              <a:rPr lang="en-US" sz="3400" b="1" dirty="0">
                <a:solidFill>
                  <a:srgbClr val="10192B"/>
                </a:solidFill>
                <a:latin typeface="Cambria" pitchFamily="34" charset="0"/>
                <a:ea typeface="Cambria" pitchFamily="34" charset="-122"/>
                <a:cs typeface="Cambria" pitchFamily="34" charset="-120"/>
              </a:rPr>
              <a:t>Testing</a:t>
            </a:r>
            <a:endParaRPr lang="en-US" sz="3400" dirty="0"/>
          </a:p>
        </p:txBody>
      </p:sp>
      <p:sp>
        <p:nvSpPr>
          <p:cNvPr id="4" name="Text 2"/>
          <p:cNvSpPr/>
          <p:nvPr/>
        </p:nvSpPr>
        <p:spPr>
          <a:xfrm>
            <a:off x="640080" y="1783080"/>
            <a:ext cx="2011680" cy="914400"/>
          </a:xfrm>
          <a:prstGeom prst="rect">
            <a:avLst/>
          </a:prstGeom>
          <a:noFill/>
          <a:ln/>
        </p:spPr>
        <p:txBody>
          <a:bodyPr wrap="square" lIns="0" tIns="0" rIns="0" bIns="0" rtlCol="0" anchor="ctr"/>
          <a:lstStyle/>
          <a:p>
            <a:pPr indent="0" marL="0">
              <a:buNone/>
            </a:pPr>
            <a:r>
              <a:rPr lang="en-US" sz="5400" b="1" dirty="0">
                <a:solidFill>
                  <a:srgbClr val="17827A"/>
                </a:solidFill>
                <a:latin typeface="Cambria" pitchFamily="34" charset="0"/>
                <a:ea typeface="Cambria" pitchFamily="34" charset="-122"/>
                <a:cs typeface="Cambria" pitchFamily="34" charset="-120"/>
              </a:rPr>
              <a:t>10</a:t>
            </a:r>
            <a:endParaRPr lang="en-US" sz="5400" dirty="0"/>
          </a:p>
        </p:txBody>
      </p:sp>
      <p:sp>
        <p:nvSpPr>
          <p:cNvPr id="5" name="Text 3"/>
          <p:cNvSpPr/>
          <p:nvPr/>
        </p:nvSpPr>
        <p:spPr>
          <a:xfrm>
            <a:off x="640080" y="2743200"/>
            <a:ext cx="2011680" cy="731520"/>
          </a:xfrm>
          <a:prstGeom prst="rect">
            <a:avLst/>
          </a:prstGeom>
          <a:noFill/>
          <a:ln/>
        </p:spPr>
        <p:txBody>
          <a:bodyPr wrap="square" lIns="0" tIns="0" rIns="0" bIns="0" rtlCol="0" anchor="t"/>
          <a:lstStyle/>
          <a:p>
            <a:pPr indent="0" marL="0">
              <a:buNone/>
            </a:pPr>
            <a:r>
              <a:rPr lang="en-US" sz="1250" dirty="0">
                <a:solidFill>
                  <a:srgbClr val="2C3E54"/>
                </a:solidFill>
                <a:latin typeface="Calibri" pitchFamily="34" charset="0"/>
                <a:ea typeface="Calibri" pitchFamily="34" charset="-122"/>
                <a:cs typeface="Calibri" pitchFamily="34" charset="-120"/>
              </a:rPr>
              <a:t>self-tests that need</a:t>
            </a:r>
            <a:endParaRPr lang="en-US" sz="1250" dirty="0"/>
          </a:p>
          <a:p>
            <a:pPr indent="0" marL="0">
              <a:buNone/>
            </a:pPr>
            <a:r>
              <a:rPr lang="en-US" sz="1250" dirty="0">
                <a:solidFill>
                  <a:srgbClr val="2C3E54"/>
                </a:solidFill>
                <a:latin typeface="Calibri" pitchFamily="34" charset="0"/>
                <a:ea typeface="Calibri" pitchFamily="34" charset="-122"/>
                <a:cs typeface="Calibri" pitchFamily="34" charset="-120"/>
              </a:rPr>
              <a:t>no network</a:t>
            </a:r>
            <a:endParaRPr lang="en-US" sz="1250" dirty="0"/>
          </a:p>
        </p:txBody>
      </p:sp>
      <p:sp>
        <p:nvSpPr>
          <p:cNvPr id="6" name="Text 4"/>
          <p:cNvSpPr/>
          <p:nvPr/>
        </p:nvSpPr>
        <p:spPr>
          <a:xfrm>
            <a:off x="2971800" y="1783080"/>
            <a:ext cx="2011680" cy="914400"/>
          </a:xfrm>
          <a:prstGeom prst="rect">
            <a:avLst/>
          </a:prstGeom>
          <a:noFill/>
          <a:ln/>
        </p:spPr>
        <p:txBody>
          <a:bodyPr wrap="square" lIns="0" tIns="0" rIns="0" bIns="0" rtlCol="0" anchor="ctr"/>
          <a:lstStyle/>
          <a:p>
            <a:pPr indent="0" marL="0">
              <a:buNone/>
            </a:pPr>
            <a:r>
              <a:rPr lang="en-US" sz="5400" b="1" dirty="0">
                <a:solidFill>
                  <a:srgbClr val="17827A"/>
                </a:solidFill>
                <a:latin typeface="Cambria" pitchFamily="34" charset="0"/>
                <a:ea typeface="Cambria" pitchFamily="34" charset="-122"/>
                <a:cs typeface="Cambria" pitchFamily="34" charset="-120"/>
              </a:rPr>
              <a:t>0</a:t>
            </a:r>
            <a:endParaRPr lang="en-US" sz="5400" dirty="0"/>
          </a:p>
        </p:txBody>
      </p:sp>
      <p:sp>
        <p:nvSpPr>
          <p:cNvPr id="7" name="Text 5"/>
          <p:cNvSpPr/>
          <p:nvPr/>
        </p:nvSpPr>
        <p:spPr>
          <a:xfrm>
            <a:off x="2971800" y="2743200"/>
            <a:ext cx="2011680" cy="731520"/>
          </a:xfrm>
          <a:prstGeom prst="rect">
            <a:avLst/>
          </a:prstGeom>
          <a:noFill/>
          <a:ln/>
        </p:spPr>
        <p:txBody>
          <a:bodyPr wrap="square" lIns="0" tIns="0" rIns="0" bIns="0" rtlCol="0" anchor="t"/>
          <a:lstStyle/>
          <a:p>
            <a:pPr indent="0" marL="0">
              <a:buNone/>
            </a:pPr>
            <a:r>
              <a:rPr lang="en-US" sz="1250" dirty="0">
                <a:solidFill>
                  <a:srgbClr val="2C3E54"/>
                </a:solidFill>
                <a:latin typeface="Calibri" pitchFamily="34" charset="0"/>
                <a:ea typeface="Calibri" pitchFamily="34" charset="-122"/>
                <a:cs typeface="Calibri" pitchFamily="34" charset="-120"/>
              </a:rPr>
              <a:t>packets sent on</a:t>
            </a:r>
            <a:endParaRPr lang="en-US" sz="1250" dirty="0"/>
          </a:p>
          <a:p>
            <a:pPr indent="0" marL="0">
              <a:buNone/>
            </a:pPr>
            <a:r>
              <a:rPr lang="en-US" sz="1250" dirty="0">
                <a:solidFill>
                  <a:srgbClr val="2C3E54"/>
                </a:solidFill>
                <a:latin typeface="Calibri" pitchFamily="34" charset="0"/>
                <a:ea typeface="Calibri" pitchFamily="34" charset="-122"/>
                <a:cs typeface="Calibri" pitchFamily="34" charset="-120"/>
              </a:rPr>
              <a:t>a cache hit</a:t>
            </a:r>
            <a:endParaRPr lang="en-US" sz="1250" dirty="0"/>
          </a:p>
        </p:txBody>
      </p:sp>
      <p:sp>
        <p:nvSpPr>
          <p:cNvPr id="8" name="Text 6"/>
          <p:cNvSpPr/>
          <p:nvPr/>
        </p:nvSpPr>
        <p:spPr>
          <a:xfrm>
            <a:off x="5303520" y="1783080"/>
            <a:ext cx="2011680" cy="914400"/>
          </a:xfrm>
          <a:prstGeom prst="rect">
            <a:avLst/>
          </a:prstGeom>
          <a:noFill/>
          <a:ln/>
        </p:spPr>
        <p:txBody>
          <a:bodyPr wrap="square" lIns="0" tIns="0" rIns="0" bIns="0" rtlCol="0" anchor="ctr"/>
          <a:lstStyle/>
          <a:p>
            <a:pPr indent="0" marL="0">
              <a:buNone/>
            </a:pPr>
            <a:r>
              <a:rPr lang="en-US" sz="5400" b="1" dirty="0">
                <a:solidFill>
                  <a:srgbClr val="17827A"/>
                </a:solidFill>
                <a:latin typeface="Cambria" pitchFamily="34" charset="0"/>
                <a:ea typeface="Cambria" pitchFamily="34" charset="-122"/>
                <a:cs typeface="Cambria" pitchFamily="34" charset="-120"/>
              </a:rPr>
              <a:t>3</a:t>
            </a:r>
            <a:endParaRPr lang="en-US" sz="5400" dirty="0"/>
          </a:p>
        </p:txBody>
      </p:sp>
      <p:sp>
        <p:nvSpPr>
          <p:cNvPr id="9" name="Text 7"/>
          <p:cNvSpPr/>
          <p:nvPr/>
        </p:nvSpPr>
        <p:spPr>
          <a:xfrm>
            <a:off x="5303520" y="2743200"/>
            <a:ext cx="2011680" cy="731520"/>
          </a:xfrm>
          <a:prstGeom prst="rect">
            <a:avLst/>
          </a:prstGeom>
          <a:noFill/>
          <a:ln/>
        </p:spPr>
        <p:txBody>
          <a:bodyPr wrap="square" lIns="0" tIns="0" rIns="0" bIns="0" rtlCol="0" anchor="t"/>
          <a:lstStyle/>
          <a:p>
            <a:pPr indent="0" marL="0">
              <a:buNone/>
            </a:pPr>
            <a:r>
              <a:rPr lang="en-US" sz="1250" dirty="0">
                <a:solidFill>
                  <a:srgbClr val="2C3E54"/>
                </a:solidFill>
                <a:latin typeface="Calibri" pitchFamily="34" charset="0"/>
                <a:ea typeface="Calibri" pitchFamily="34" charset="-122"/>
                <a:cs typeface="Calibri" pitchFamily="34" charset="-120"/>
              </a:rPr>
              <a:t>RFC gaps closed</a:t>
            </a:r>
            <a:endParaRPr lang="en-US" sz="1250" dirty="0"/>
          </a:p>
        </p:txBody>
      </p:sp>
      <p:sp>
        <p:nvSpPr>
          <p:cNvPr id="10" name="Shape 8"/>
          <p:cNvSpPr/>
          <p:nvPr/>
        </p:nvSpPr>
        <p:spPr>
          <a:xfrm>
            <a:off x="7863840" y="1783080"/>
            <a:ext cx="3657600" cy="2331720"/>
          </a:xfrm>
          <a:prstGeom prst="roundRect">
            <a:avLst>
              <a:gd name="adj" fmla="val 2353"/>
            </a:avLst>
          </a:prstGeom>
          <a:solidFill>
            <a:srgbClr val="10192B"/>
          </a:solidFill>
          <a:ln w="12700">
            <a:solidFill>
              <a:srgbClr val="10192B"/>
            </a:solidFill>
            <a:prstDash val="solid"/>
          </a:ln>
        </p:spPr>
      </p:sp>
      <p:sp>
        <p:nvSpPr>
          <p:cNvPr id="11" name="Text 9"/>
          <p:cNvSpPr/>
          <p:nvPr/>
        </p:nvSpPr>
        <p:spPr>
          <a:xfrm>
            <a:off x="8028432" y="1892808"/>
            <a:ext cx="3328416" cy="2112264"/>
          </a:xfrm>
          <a:prstGeom prst="rect">
            <a:avLst/>
          </a:prstGeom>
          <a:noFill/>
          <a:ln/>
        </p:spPr>
        <p:txBody>
          <a:bodyPr wrap="square" lIns="0" tIns="0" rIns="0" bIns="0" rtlCol="0" anchor="t"/>
          <a:lstStyle/>
          <a:p>
            <a:pPr indent="0" marL="0">
              <a:lnSpc>
                <a:spcPts val="1350"/>
              </a:lnSpc>
              <a:buNone/>
            </a:pPr>
            <a:r>
              <a:rPr lang="en-US" sz="1000" dirty="0">
                <a:solidFill>
                  <a:srgbClr val="D6E2EE"/>
                </a:solidFill>
                <a:latin typeface="Courier New" pitchFamily="34" charset="0"/>
                <a:ea typeface="Courier New" pitchFamily="34" charset="-122"/>
                <a:cs typeface="Courier New" pitchFamily="34" charset="-120"/>
              </a:rPr>
              <a:t>$ python resolver.py --selftest</a:t>
            </a:r>
            <a:endParaRPr lang="en-US" sz="1000" dirty="0"/>
          </a:p>
          <a:p>
            <a:pPr indent="0" marL="0">
              <a:lnSpc>
                <a:spcPts val="1350"/>
              </a:lnSpc>
              <a:buNone/>
            </a:pPr>
            <a:r>
              <a:rPr lang="en-US" sz="1000" dirty="0">
                <a:solidFill>
                  <a:srgbClr val="D6E2EE"/>
                </a:solidFill>
                <a:latin typeface="Courier New" pitchFamily="34" charset="0"/>
                <a:ea typeface="Courier New" pitchFamily="34" charset="-122"/>
                <a:cs typeface="Courier New" pitchFamily="34" charset="-120"/>
              </a:rPr>
              <a:t> [5] followed its CNAME</a:t>
            </a:r>
            <a:endParaRPr lang="en-US" sz="1000" dirty="0"/>
          </a:p>
          <a:p>
            <a:pPr indent="0" marL="0">
              <a:lnSpc>
                <a:spcPts val="1350"/>
              </a:lnSpc>
              <a:buNone/>
            </a:pPr>
            <a:r>
              <a:rPr lang="en-US" sz="1000" dirty="0">
                <a:solidFill>
                  <a:srgbClr val="D6E2EE"/>
                </a:solidFill>
                <a:latin typeface="Courier New" pitchFamily="34" charset="0"/>
                <a:ea typeface="Courier New" pitchFamily="34" charset="-122"/>
                <a:cs typeface="Courier New" pitchFamily="34" charset="-120"/>
              </a:rPr>
              <a:t> [6] NXDOMAIN cached, 0 queries</a:t>
            </a:r>
            <a:endParaRPr lang="en-US" sz="1000" dirty="0"/>
          </a:p>
          <a:p>
            <a:pPr indent="0" marL="0">
              <a:lnSpc>
                <a:spcPts val="1350"/>
              </a:lnSpc>
              <a:buNone/>
            </a:pPr>
            <a:r>
              <a:rPr lang="en-US" sz="1000" dirty="0">
                <a:solidFill>
                  <a:srgbClr val="D6E2EE"/>
                </a:solidFill>
                <a:latin typeface="Courier New" pitchFamily="34" charset="0"/>
                <a:ea typeface="Courier New" pitchFamily="34" charset="-122"/>
                <a:cs typeface="Courier New" pitchFamily="34" charset="-120"/>
              </a:rPr>
              <a:t> [7] negative entry expired</a:t>
            </a:r>
            <a:endParaRPr lang="en-US" sz="1000" dirty="0"/>
          </a:p>
          <a:p>
            <a:pPr indent="0" marL="0">
              <a:lnSpc>
                <a:spcPts val="1350"/>
              </a:lnSpc>
              <a:buNone/>
            </a:pPr>
            <a:r>
              <a:rPr lang="en-US" sz="1000" dirty="0">
                <a:solidFill>
                  <a:srgbClr val="D6E2EE"/>
                </a:solidFill>
                <a:latin typeface="Courier New" pitchFamily="34" charset="0"/>
                <a:ea typeface="Courier New" pitchFamily="34" charset="-122"/>
                <a:cs typeface="Courier New" pitchFamily="34" charset="-120"/>
              </a:rPr>
              <a:t> [8] SOA MINIMUM=45 found</a:t>
            </a:r>
            <a:endParaRPr lang="en-US" sz="1000" dirty="0"/>
          </a:p>
          <a:p>
            <a:pPr indent="0" marL="0">
              <a:lnSpc>
                <a:spcPts val="1350"/>
              </a:lnSpc>
              <a:buNone/>
            </a:pPr>
            <a:r>
              <a:rPr lang="en-US" sz="1000" dirty="0">
                <a:solidFill>
                  <a:srgbClr val="D6E2EE"/>
                </a:solidFill>
                <a:latin typeface="Courier New" pitchFamily="34" charset="0"/>
                <a:ea typeface="Courier New" pitchFamily="34" charset="-122"/>
                <a:cs typeface="Courier New" pitchFamily="34" charset="-120"/>
              </a:rPr>
              <a:t>[10] fell back after SERVFAIL</a:t>
            </a:r>
            <a:endParaRPr lang="en-US" sz="1000" dirty="0"/>
          </a:p>
          <a:p>
            <a:pPr indent="0" marL="0">
              <a:lnSpc>
                <a:spcPts val="1350"/>
              </a:lnSpc>
              <a:buNone/>
            </a:pPr>
            <a:endParaRPr lang="en-US" sz="1000" dirty="0"/>
          </a:p>
          <a:p>
            <a:pPr indent="0" marL="0">
              <a:lnSpc>
                <a:spcPts val="1350"/>
              </a:lnSpc>
              <a:buNone/>
            </a:pPr>
            <a:r>
              <a:rPr lang="en-US" sz="1000" dirty="0">
                <a:solidFill>
                  <a:srgbClr val="D6E2EE"/>
                </a:solidFill>
                <a:latin typeface="Courier New" pitchFamily="34" charset="0"/>
                <a:ea typeface="Courier New" pitchFamily="34" charset="-122"/>
                <a:cs typeface="Courier New" pitchFamily="34" charset="-120"/>
              </a:rPr>
              <a:t>all self-tests passed</a:t>
            </a:r>
            <a:endParaRPr lang="en-US" sz="1000" dirty="0"/>
          </a:p>
        </p:txBody>
      </p:sp>
      <p:sp>
        <p:nvSpPr>
          <p:cNvPr id="12" name="Text 10"/>
          <p:cNvSpPr/>
          <p:nvPr/>
        </p:nvSpPr>
        <p:spPr>
          <a:xfrm>
            <a:off x="640080" y="3794760"/>
            <a:ext cx="6766560" cy="320040"/>
          </a:xfrm>
          <a:prstGeom prst="rect">
            <a:avLst/>
          </a:prstGeom>
          <a:noFill/>
          <a:ln/>
        </p:spPr>
        <p:txBody>
          <a:bodyPr wrap="square" lIns="0" tIns="0" rIns="0" bIns="0" rtlCol="0" anchor="ctr"/>
          <a:lstStyle/>
          <a:p>
            <a:pPr indent="0" marL="0">
              <a:buNone/>
            </a:pPr>
            <a:r>
              <a:rPr lang="en-US" sz="1700" b="1" dirty="0">
                <a:solidFill>
                  <a:srgbClr val="10192B"/>
                </a:solidFill>
                <a:latin typeface="Cambria" pitchFamily="34" charset="0"/>
                <a:ea typeface="Cambria" pitchFamily="34" charset="-122"/>
                <a:cs typeface="Cambria" pitchFamily="34" charset="-120"/>
              </a:rPr>
              <a:t>Fake zone, fake clock</a:t>
            </a:r>
            <a:endParaRPr lang="en-US" sz="1700" dirty="0"/>
          </a:p>
        </p:txBody>
      </p:sp>
      <p:sp>
        <p:nvSpPr>
          <p:cNvPr id="13" name="Text 11"/>
          <p:cNvSpPr/>
          <p:nvPr/>
        </p:nvSpPr>
        <p:spPr>
          <a:xfrm>
            <a:off x="640080" y="4160520"/>
            <a:ext cx="6766560" cy="1188720"/>
          </a:xfrm>
          <a:prstGeom prst="rect">
            <a:avLst/>
          </a:prstGeom>
          <a:noFill/>
          <a:ln/>
        </p:spPr>
        <p:txBody>
          <a:bodyPr wrap="square" lIns="0" tIns="0" rIns="0" bIns="0" rtlCol="0" anchor="t"/>
          <a:lstStyle/>
          <a:p>
            <a:pPr indent="0" marL="0">
              <a:buNone/>
            </a:pPr>
            <a:r>
              <a:rPr lang="en-US" sz="1350" dirty="0">
                <a:solidFill>
                  <a:srgbClr val="2C3E54"/>
                </a:solidFill>
                <a:latin typeface="Calibri" pitchFamily="34" charset="0"/>
                <a:ea typeface="Calibri" pitchFamily="34" charset="-122"/>
                <a:cs typeface="Calibri" pitchFamily="34" charset="-120"/>
              </a:rPr>
              <a:t>Testing TTL expiry on the real network would mean sitting there waiting and hoping nothing changes under us. So we pass in a clock we control and jump it past the TTL. We also count packets, because getting the right answer back does not tell you the cache worked. Zero packets sent does.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192B"/>
        </a:solidFill>
      </p:bgPr>
    </p:bg>
    <p:spTree>
      <p:nvGrpSpPr>
        <p:cNvPr id="1" name=""/>
        <p:cNvGrpSpPr/>
        <p:nvPr/>
      </p:nvGrpSpPr>
      <p:grpSpPr>
        <a:xfrm>
          <a:off x="0" y="0"/>
          <a:ext cx="0" cy="0"/>
          <a:chOff x="0" y="0"/>
          <a:chExt cx="0" cy="0"/>
        </a:xfrm>
      </p:grpSpPr>
      <p:sp>
        <p:nvSpPr>
          <p:cNvPr id="2" name="Text 0"/>
          <p:cNvSpPr/>
          <p:nvPr/>
        </p:nvSpPr>
        <p:spPr>
          <a:xfrm>
            <a:off x="822960" y="1234440"/>
            <a:ext cx="7315200" cy="274320"/>
          </a:xfrm>
          <a:prstGeom prst="rect">
            <a:avLst/>
          </a:prstGeom>
          <a:noFill/>
          <a:ln/>
        </p:spPr>
        <p:txBody>
          <a:bodyPr wrap="square" lIns="0" tIns="0" rIns="0" bIns="0" rtlCol="0" anchor="ctr"/>
          <a:lstStyle/>
          <a:p>
            <a:pPr indent="0" marL="0">
              <a:buNone/>
            </a:pPr>
            <a:r>
              <a:rPr lang="en-US" sz="1200" b="1" spc="300" kern="0" dirty="0">
                <a:solidFill>
                  <a:srgbClr val="17827A"/>
                </a:solidFill>
                <a:latin typeface="Calibri" pitchFamily="34" charset="0"/>
                <a:ea typeface="Calibri" pitchFamily="34" charset="-122"/>
                <a:cs typeface="Calibri" pitchFamily="34" charset="-120"/>
              </a:rPr>
              <a:t>SUMMARY</a:t>
            </a:r>
            <a:endParaRPr lang="en-US" sz="1200" dirty="0"/>
          </a:p>
        </p:txBody>
      </p:sp>
      <p:sp>
        <p:nvSpPr>
          <p:cNvPr id="3" name="Shape 1"/>
          <p:cNvSpPr/>
          <p:nvPr/>
        </p:nvSpPr>
        <p:spPr>
          <a:xfrm>
            <a:off x="822960" y="1810512"/>
            <a:ext cx="91440" cy="868680"/>
          </a:xfrm>
          <a:prstGeom prst="rect">
            <a:avLst/>
          </a:prstGeom>
          <a:solidFill>
            <a:srgbClr val="17827A"/>
          </a:solidFill>
          <a:ln w="12700">
            <a:solidFill>
              <a:srgbClr val="333333"/>
            </a:solidFill>
            <a:prstDash val="solid"/>
          </a:ln>
        </p:spPr>
      </p:sp>
      <p:sp>
        <p:nvSpPr>
          <p:cNvPr id="4" name="Text 2"/>
          <p:cNvSpPr/>
          <p:nvPr/>
        </p:nvSpPr>
        <p:spPr>
          <a:xfrm>
            <a:off x="1234440" y="1737360"/>
            <a:ext cx="987552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CNAME resolution</a:t>
            </a:r>
            <a:endParaRPr lang="en-US" sz="1900" dirty="0"/>
          </a:p>
        </p:txBody>
      </p:sp>
      <p:sp>
        <p:nvSpPr>
          <p:cNvPr id="5" name="Text 3"/>
          <p:cNvSpPr/>
          <p:nvPr/>
        </p:nvSpPr>
        <p:spPr>
          <a:xfrm>
            <a:off x="1234440" y="2121408"/>
            <a:ext cx="9875520" cy="594360"/>
          </a:xfrm>
          <a:prstGeom prst="rect">
            <a:avLst/>
          </a:prstGeom>
          <a:noFill/>
          <a:ln/>
        </p:spPr>
        <p:txBody>
          <a:bodyPr wrap="square" lIns="0" tIns="0" rIns="0" bIns="0" rtlCol="0" anchor="t"/>
          <a:lstStyle/>
          <a:p>
            <a:pPr indent="0" marL="0">
              <a:buNone/>
            </a:pPr>
            <a:r>
              <a:rPr lang="en-US" sz="1400" dirty="0">
                <a:solidFill>
                  <a:srgbClr val="9FB2C7"/>
                </a:solidFill>
                <a:latin typeface="Calibri" pitchFamily="34" charset="0"/>
                <a:ea typeface="Calibri" pitchFamily="34" charset="-122"/>
                <a:cs typeface="Calibri" pitchFamily="34" charset="-120"/>
              </a:rPr>
              <a:t>We follow aliases to the canonical name instead of returning nothing. RFC 1034 §3.6.2.</a:t>
            </a:r>
            <a:endParaRPr lang="en-US" sz="1400" dirty="0"/>
          </a:p>
        </p:txBody>
      </p:sp>
      <p:sp>
        <p:nvSpPr>
          <p:cNvPr id="6" name="Shape 4"/>
          <p:cNvSpPr/>
          <p:nvPr/>
        </p:nvSpPr>
        <p:spPr>
          <a:xfrm>
            <a:off x="822960" y="3044952"/>
            <a:ext cx="91440" cy="868680"/>
          </a:xfrm>
          <a:prstGeom prst="rect">
            <a:avLst/>
          </a:prstGeom>
          <a:solidFill>
            <a:srgbClr val="17827A"/>
          </a:solidFill>
          <a:ln w="12700">
            <a:solidFill>
              <a:srgbClr val="333333"/>
            </a:solidFill>
            <a:prstDash val="solid"/>
          </a:ln>
        </p:spPr>
      </p:sp>
      <p:sp>
        <p:nvSpPr>
          <p:cNvPr id="7" name="Text 5"/>
          <p:cNvSpPr/>
          <p:nvPr/>
        </p:nvSpPr>
        <p:spPr>
          <a:xfrm>
            <a:off x="1234440" y="2971800"/>
            <a:ext cx="987552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Negative caching</a:t>
            </a:r>
            <a:endParaRPr lang="en-US" sz="1900" dirty="0"/>
          </a:p>
        </p:txBody>
      </p:sp>
      <p:sp>
        <p:nvSpPr>
          <p:cNvPr id="8" name="Text 6"/>
          <p:cNvSpPr/>
          <p:nvPr/>
        </p:nvSpPr>
        <p:spPr>
          <a:xfrm>
            <a:off x="1234440" y="3355848"/>
            <a:ext cx="9875520" cy="594360"/>
          </a:xfrm>
          <a:prstGeom prst="rect">
            <a:avLst/>
          </a:prstGeom>
          <a:noFill/>
          <a:ln/>
        </p:spPr>
        <p:txBody>
          <a:bodyPr wrap="square" lIns="0" tIns="0" rIns="0" bIns="0" rtlCol="0" anchor="t"/>
          <a:lstStyle/>
          <a:p>
            <a:pPr indent="0" marL="0">
              <a:buNone/>
            </a:pPr>
            <a:r>
              <a:rPr lang="en-US" sz="1400" dirty="0">
                <a:solidFill>
                  <a:srgbClr val="9FB2C7"/>
                </a:solidFill>
                <a:latin typeface="Calibri" pitchFamily="34" charset="0"/>
                <a:ea typeface="Calibri" pitchFamily="34" charset="-122"/>
                <a:cs typeface="Calibri" pitchFamily="34" charset="-120"/>
              </a:rPr>
              <a:t>NXDOMAIN gets cached using the SOA, so repeat lookups of a dead name cost nothing. RFC 2308 §3, §4, §5.</a:t>
            </a:r>
            <a:endParaRPr lang="en-US" sz="1400" dirty="0"/>
          </a:p>
        </p:txBody>
      </p:sp>
      <p:sp>
        <p:nvSpPr>
          <p:cNvPr id="9" name="Shape 7"/>
          <p:cNvSpPr/>
          <p:nvPr/>
        </p:nvSpPr>
        <p:spPr>
          <a:xfrm>
            <a:off x="822960" y="4279392"/>
            <a:ext cx="91440" cy="868680"/>
          </a:xfrm>
          <a:prstGeom prst="rect">
            <a:avLst/>
          </a:prstGeom>
          <a:solidFill>
            <a:srgbClr val="17827A"/>
          </a:solidFill>
          <a:ln w="12700">
            <a:solidFill>
              <a:srgbClr val="333333"/>
            </a:solidFill>
            <a:prstDash val="solid"/>
          </a:ln>
        </p:spPr>
      </p:sp>
      <p:sp>
        <p:nvSpPr>
          <p:cNvPr id="10" name="Text 8"/>
          <p:cNvSpPr/>
          <p:nvPr/>
        </p:nvSpPr>
        <p:spPr>
          <a:xfrm>
            <a:off x="1234440" y="4206240"/>
            <a:ext cx="987552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Nameserver failover</a:t>
            </a:r>
            <a:endParaRPr lang="en-US" sz="1900" dirty="0"/>
          </a:p>
        </p:txBody>
      </p:sp>
      <p:sp>
        <p:nvSpPr>
          <p:cNvPr id="11" name="Text 9"/>
          <p:cNvSpPr/>
          <p:nvPr/>
        </p:nvSpPr>
        <p:spPr>
          <a:xfrm>
            <a:off x="1234440" y="4590288"/>
            <a:ext cx="9875520" cy="594360"/>
          </a:xfrm>
          <a:prstGeom prst="rect">
            <a:avLst/>
          </a:prstGeom>
          <a:noFill/>
          <a:ln/>
        </p:spPr>
        <p:txBody>
          <a:bodyPr wrap="square" lIns="0" tIns="0" rIns="0" bIns="0" rtlCol="0" anchor="t"/>
          <a:lstStyle/>
          <a:p>
            <a:pPr indent="0" marL="0">
              <a:buNone/>
            </a:pPr>
            <a:r>
              <a:rPr lang="en-US" sz="1400" dirty="0">
                <a:solidFill>
                  <a:srgbClr val="9FB2C7"/>
                </a:solidFill>
                <a:latin typeface="Calibri" pitchFamily="34" charset="0"/>
                <a:ea typeface="Calibri" pitchFamily="34" charset="-122"/>
                <a:cs typeface="Calibri" pitchFamily="34" charset="-120"/>
              </a:rPr>
              <a:t>We try every server in a delegation instead of only the first. RFC 1034 §5.3.3.</a:t>
            </a:r>
            <a:endParaRPr lang="en-US" sz="1400" dirty="0"/>
          </a:p>
        </p:txBody>
      </p:sp>
      <p:sp>
        <p:nvSpPr>
          <p:cNvPr id="12" name="Text 10"/>
          <p:cNvSpPr/>
          <p:nvPr/>
        </p:nvSpPr>
        <p:spPr>
          <a:xfrm>
            <a:off x="822960" y="5577840"/>
            <a:ext cx="365760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Questions?</a:t>
            </a:r>
            <a:endParaRPr lang="en-US" sz="2000" dirty="0"/>
          </a:p>
        </p:txBody>
      </p:sp>
      <p:sp>
        <p:nvSpPr>
          <p:cNvPr id="13" name="Text 11"/>
          <p:cNvSpPr/>
          <p:nvPr/>
        </p:nvSpPr>
        <p:spPr>
          <a:xfrm>
            <a:off x="822960" y="6035040"/>
            <a:ext cx="7315200" cy="320040"/>
          </a:xfrm>
          <a:prstGeom prst="rect">
            <a:avLst/>
          </a:prstGeom>
          <a:noFill/>
          <a:ln/>
        </p:spPr>
        <p:txBody>
          <a:bodyPr wrap="square" lIns="0" tIns="0" rIns="0" bIns="0" rtlCol="0" anchor="ctr"/>
          <a:lstStyle/>
          <a:p>
            <a:pPr indent="0" marL="0">
              <a:buNone/>
            </a:pPr>
            <a:r>
              <a:rPr lang="en-US" sz="1200" dirty="0">
                <a:solidFill>
                  <a:srgbClr val="6E8299"/>
                </a:solidFill>
                <a:latin typeface="Courier New" pitchFamily="34" charset="0"/>
                <a:ea typeface="Courier New" pitchFamily="34" charset="-122"/>
                <a:cs typeface="Courier New" pitchFamily="34" charset="-120"/>
              </a:rPr>
              <a:t>github.com/matthewgouyer/grp9-dns-resolver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2026-08-03T07:08:44Z</dcterms:created>
  <dcterms:modified xsi:type="dcterms:W3CDTF">2026-08-03T07:08:44Z</dcterms:modified>
</cp:coreProperties>
</file>